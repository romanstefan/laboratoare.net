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8"/>
  </p:notesMasterIdLst>
  <p:sldIdLst>
    <p:sldId id="274" r:id="rId2"/>
    <p:sldId id="275" r:id="rId3"/>
    <p:sldId id="276" r:id="rId4"/>
    <p:sldId id="277" r:id="rId5"/>
    <p:sldId id="278" r:id="rId6"/>
    <p:sldId id="279" r:id="rId7"/>
    <p:sldId id="257" r:id="rId8"/>
    <p:sldId id="258" r:id="rId9"/>
    <p:sldId id="259" r:id="rId10"/>
    <p:sldId id="262" r:id="rId11"/>
    <p:sldId id="263" r:id="rId12"/>
    <p:sldId id="264" r:id="rId13"/>
    <p:sldId id="265" r:id="rId14"/>
    <p:sldId id="266" r:id="rId15"/>
    <p:sldId id="267" r:id="rId16"/>
    <p:sldId id="268" r:id="rId17"/>
    <p:sldId id="270" r:id="rId18"/>
    <p:sldId id="271" r:id="rId19"/>
    <p:sldId id="272" r:id="rId20"/>
    <p:sldId id="280" r:id="rId21"/>
    <p:sldId id="281" r:id="rId22"/>
    <p:sldId id="282" r:id="rId23"/>
    <p:sldId id="283" r:id="rId24"/>
    <p:sldId id="284" r:id="rId25"/>
    <p:sldId id="285" r:id="rId26"/>
    <p:sldId id="286" r:id="rId27"/>
    <p:sldId id="287" r:id="rId28"/>
    <p:sldId id="296" r:id="rId29"/>
    <p:sldId id="325" r:id="rId30"/>
    <p:sldId id="32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288" r:id="rId60"/>
    <p:sldId id="289" r:id="rId61"/>
    <p:sldId id="290" r:id="rId62"/>
    <p:sldId id="293" r:id="rId63"/>
    <p:sldId id="294" r:id="rId64"/>
    <p:sldId id="295" r:id="rId65"/>
    <p:sldId id="291" r:id="rId66"/>
    <p:sldId id="292"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5" autoAdjust="0"/>
    <p:restoredTop sz="63775" autoAdjust="0"/>
  </p:normalViewPr>
  <p:slideViewPr>
    <p:cSldViewPr snapToGrid="0">
      <p:cViewPr>
        <p:scale>
          <a:sx n="79" d="100"/>
          <a:sy n="79" d="100"/>
        </p:scale>
        <p:origin x="-1740" y="-78"/>
      </p:cViewPr>
      <p:guideLst>
        <p:guide orient="horz" pos="2160"/>
        <p:guide pos="3840"/>
      </p:guideLst>
    </p:cSldViewPr>
  </p:slideViewPr>
  <p:outlineViewPr>
    <p:cViewPr>
      <p:scale>
        <a:sx n="33" d="100"/>
        <a:sy n="33" d="100"/>
      </p:scale>
      <p:origin x="0" y="113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80C2E-DB9A-4C39-8F6B-75BFF8E7A375}" type="datetimeFigureOut">
              <a:rPr lang="en-GB" smtClean="0"/>
              <a:t>08/10/2017</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85FC9-A1BC-4A73-BD97-DCA941177DFB}" type="slidenum">
              <a:rPr lang="en-GB" smtClean="0"/>
              <a:t>‹#›</a:t>
            </a:fld>
            <a:endParaRPr lang="en-GB"/>
          </a:p>
        </p:txBody>
      </p:sp>
    </p:spTree>
    <p:extLst>
      <p:ext uri="{BB962C8B-B14F-4D97-AF65-F5344CB8AC3E}">
        <p14:creationId xmlns:p14="http://schemas.microsoft.com/office/powerpoint/2010/main" val="861837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asp.net/en/latest/client-side/index.html" TargetMode="External"/><Relationship Id="rId7" Type="http://schemas.openxmlformats.org/officeDocument/2006/relationships/hyperlink" Target="https://nuget.org/"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microsoft.com/net/core" TargetMode="External"/><Relationship Id="rId5" Type="http://schemas.openxmlformats.org/officeDocument/2006/relationships/hyperlink" Target="https://docs.asp.net/en/latest/fundamentals/dependency-injection.html" TargetMode="External"/><Relationship Id="rId4" Type="http://schemas.openxmlformats.org/officeDocument/2006/relationships/hyperlink" Target="https://docs.asp.net/en/latest/fundamentals/configuration.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 sources can be found in </a:t>
            </a:r>
            <a:r>
              <a:rPr lang="en-US" b="1" dirty="0" err="1" smtClean="0"/>
              <a:t>github</a:t>
            </a:r>
            <a:r>
              <a:rPr lang="en-US" b="1" dirty="0" smtClean="0"/>
              <a:t>.</a:t>
            </a:r>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5</a:t>
            </a:fld>
            <a:endParaRPr lang="en-GB"/>
          </a:p>
        </p:txBody>
      </p:sp>
    </p:spTree>
    <p:extLst>
      <p:ext uri="{BB962C8B-B14F-4D97-AF65-F5344CB8AC3E}">
        <p14:creationId xmlns:p14="http://schemas.microsoft.com/office/powerpoint/2010/main" val="1055877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smtClean="0"/>
              <a:t>What is .NET Core</a:t>
            </a:r>
          </a:p>
          <a:p>
            <a:pPr marL="171450" indent="-171450">
              <a:buFont typeface="Arial" panose="020B0604020202020204" pitchFamily="34" charset="0"/>
              <a:buChar char="•"/>
            </a:pPr>
            <a:r>
              <a:rPr lang="en-US" dirty="0" smtClean="0"/>
              <a:t>Open Source.</a:t>
            </a:r>
          </a:p>
          <a:p>
            <a:pPr marL="171450" indent="-171450">
              <a:buFont typeface="Arial" panose="020B0604020202020204" pitchFamily="34" charset="0"/>
              <a:buChar char="•"/>
            </a:pPr>
            <a:r>
              <a:rPr lang="en-US" dirty="0" smtClean="0"/>
              <a:t>Developed &amp; run on Cross Platform.</a:t>
            </a:r>
          </a:p>
          <a:p>
            <a:pPr marL="171450" indent="-171450">
              <a:buFont typeface="Arial" panose="020B0604020202020204" pitchFamily="34" charset="0"/>
              <a:buChar char="•"/>
            </a:pPr>
            <a:r>
              <a:rPr lang="en-US" dirty="0" smtClean="0"/>
              <a:t>Built on the .NET Core runtime &amp; also on .NET Framework.</a:t>
            </a:r>
          </a:p>
          <a:p>
            <a:pPr marL="171450" indent="-171450">
              <a:buFont typeface="Arial" panose="020B0604020202020204" pitchFamily="34" charset="0"/>
              <a:buChar char="•"/>
            </a:pPr>
            <a:r>
              <a:rPr lang="en-US" dirty="0" smtClean="0"/>
              <a:t>Facility of dynamic compilation.</a:t>
            </a:r>
          </a:p>
          <a:p>
            <a:pPr marL="171450" indent="-171450">
              <a:buFont typeface="Arial" panose="020B0604020202020204" pitchFamily="34" charset="0"/>
              <a:buChar char="•"/>
            </a:pPr>
            <a:r>
              <a:rPr lang="en-US" dirty="0" smtClean="0"/>
              <a:t>Built in Dependency Injection (DI).</a:t>
            </a:r>
          </a:p>
          <a:p>
            <a:pPr marL="171450" indent="-171450">
              <a:buFont typeface="Arial" panose="020B0604020202020204" pitchFamily="34" charset="0"/>
              <a:buChar char="•"/>
            </a:pPr>
            <a:r>
              <a:rPr lang="en-US" dirty="0" smtClean="0"/>
              <a:t>MVC &amp; Web API Controller are unified, Inherited from same base class.</a:t>
            </a:r>
          </a:p>
          <a:p>
            <a:pPr marL="171450" indent="-171450">
              <a:buFont typeface="Arial" panose="020B0604020202020204" pitchFamily="34" charset="0"/>
              <a:buChar char="•"/>
            </a:pPr>
            <a:r>
              <a:rPr lang="en-US" dirty="0" smtClean="0"/>
              <a:t>Smart tooling (Bower, NPM, Grunt &amp; Gulp).</a:t>
            </a:r>
          </a:p>
          <a:p>
            <a:pPr marL="171450" indent="-171450">
              <a:buFont typeface="Arial" panose="020B0604020202020204" pitchFamily="34" charset="0"/>
              <a:buChar char="•"/>
            </a:pPr>
            <a:r>
              <a:rPr lang="en-US" dirty="0" smtClean="0"/>
              <a:t>Command-line tools.</a:t>
            </a:r>
          </a:p>
          <a:p>
            <a:pPr marL="171450" indent="-171450">
              <a:buFont typeface="Arial" panose="020B0604020202020204" pitchFamily="34" charset="0"/>
              <a:buChar char="•"/>
            </a:pPr>
            <a:endParaRPr lang="en-US" dirty="0" smtClean="0"/>
          </a:p>
          <a:p>
            <a:pPr marL="0" indent="0">
              <a:buFont typeface="Arial" panose="020B0604020202020204" pitchFamily="34" charset="0"/>
              <a:buNone/>
            </a:pPr>
            <a:r>
              <a:rPr lang="en-US" b="1" dirty="0" smtClean="0"/>
              <a:t>What is .NET Framework?</a:t>
            </a:r>
          </a:p>
          <a:p>
            <a:pPr marL="171450" indent="-171450">
              <a:buFont typeface="Arial" panose="020B0604020202020204" pitchFamily="34" charset="0"/>
              <a:buChar char="•"/>
            </a:pPr>
            <a:r>
              <a:rPr lang="en-US" dirty="0" smtClean="0"/>
              <a:t>Developed and run on Windows platform only.</a:t>
            </a:r>
          </a:p>
          <a:p>
            <a:pPr marL="171450" indent="-171450">
              <a:buFont typeface="Arial" panose="020B0604020202020204" pitchFamily="34" charset="0"/>
              <a:buChar char="•"/>
            </a:pPr>
            <a:r>
              <a:rPr lang="en-US" dirty="0" smtClean="0"/>
              <a:t>Built on the .NET Framework runtime.</a:t>
            </a:r>
          </a:p>
          <a:p>
            <a:pPr marL="171450" indent="-171450">
              <a:buFont typeface="Arial" panose="020B0604020202020204" pitchFamily="34" charset="0"/>
              <a:buChar char="•"/>
            </a:pPr>
            <a:r>
              <a:rPr lang="en-US" dirty="0" smtClean="0"/>
              <a:t>Supported (MVC, Web API &amp; </a:t>
            </a:r>
            <a:r>
              <a:rPr lang="en-US" dirty="0" err="1" smtClean="0"/>
              <a:t>SignalR</a:t>
            </a:r>
            <a:r>
              <a:rPr lang="en-US" dirty="0" smtClean="0"/>
              <a:t>) Dependency Injection (DI).</a:t>
            </a:r>
          </a:p>
          <a:p>
            <a:pPr marL="171450" indent="-171450">
              <a:buFont typeface="Arial" panose="020B0604020202020204" pitchFamily="34" charset="0"/>
              <a:buChar char="•"/>
            </a:pPr>
            <a:r>
              <a:rPr lang="en-US" dirty="0" smtClean="0"/>
              <a:t>MVC &amp; Web API Controller are separated.</a:t>
            </a:r>
          </a:p>
          <a:p>
            <a:pPr marL="0" indent="0">
              <a:buFont typeface="Arial" panose="020B0604020202020204" pitchFamily="34" charset="0"/>
              <a:buNone/>
            </a:pPr>
            <a:endParaRPr lang="en-US" dirty="0" smtClean="0"/>
          </a:p>
          <a:p>
            <a:endParaRPr lang="en-GB" dirty="0"/>
          </a:p>
        </p:txBody>
      </p:sp>
      <p:sp>
        <p:nvSpPr>
          <p:cNvPr id="4" name="Slide Number Placeholder 3"/>
          <p:cNvSpPr>
            <a:spLocks noGrp="1"/>
          </p:cNvSpPr>
          <p:nvPr>
            <p:ph type="sldNum" sz="quarter" idx="10"/>
          </p:nvPr>
        </p:nvSpPr>
        <p:spPr/>
        <p:txBody>
          <a:bodyPr/>
          <a:lstStyle/>
          <a:p>
            <a:fld id="{C3785FC9-A1BC-4A73-BD97-DCA941177DFB}" type="slidenum">
              <a:rPr lang="en-GB" smtClean="0"/>
              <a:t>9</a:t>
            </a:fld>
            <a:endParaRPr lang="en-GB"/>
          </a:p>
        </p:txBody>
      </p:sp>
    </p:spTree>
    <p:extLst>
      <p:ext uri="{BB962C8B-B14F-4D97-AF65-F5344CB8AC3E}">
        <p14:creationId xmlns:p14="http://schemas.microsoft.com/office/powerpoint/2010/main" val="2395231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3785FC9-A1BC-4A73-BD97-DCA941177DFB}" type="slidenum">
              <a:rPr lang="en-GB" smtClean="0"/>
              <a:t>10</a:t>
            </a:fld>
            <a:endParaRPr lang="en-GB"/>
          </a:p>
        </p:txBody>
      </p:sp>
    </p:spTree>
    <p:extLst>
      <p:ext uri="{BB962C8B-B14F-4D97-AF65-F5344CB8AC3E}">
        <p14:creationId xmlns:p14="http://schemas.microsoft.com/office/powerpoint/2010/main" val="1721649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unified story for building web UI and web APIs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Integration of </a:t>
            </a:r>
            <a:r>
              <a:rPr lang="en-US" sz="1200" b="0" i="0" u="none" strike="noStrike" kern="1200" dirty="0" smtClean="0">
                <a:solidFill>
                  <a:schemeClr val="tx1"/>
                </a:solidFill>
                <a:effectLst/>
                <a:latin typeface="+mn-lt"/>
                <a:ea typeface="+mn-ea"/>
                <a:cs typeface="+mn-cs"/>
                <a:hlinkClick r:id="rId3"/>
              </a:rPr>
              <a:t>modern client-side frameworks</a:t>
            </a:r>
            <a:r>
              <a:rPr lang="en-US" sz="1200" b="0" i="0" kern="1200" dirty="0" smtClean="0">
                <a:solidFill>
                  <a:schemeClr val="tx1"/>
                </a:solidFill>
                <a:effectLst/>
                <a:latin typeface="+mn-lt"/>
                <a:ea typeface="+mn-ea"/>
                <a:cs typeface="+mn-cs"/>
              </a:rPr>
              <a:t> and development workflows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cloud-ready environment-based </a:t>
            </a:r>
            <a:r>
              <a:rPr lang="en-US" sz="1200" b="0" i="0" u="none" strike="noStrike" kern="1200" dirty="0" smtClean="0">
                <a:solidFill>
                  <a:schemeClr val="tx1"/>
                </a:solidFill>
                <a:effectLst/>
                <a:latin typeface="+mn-lt"/>
                <a:ea typeface="+mn-ea"/>
                <a:cs typeface="+mn-cs"/>
                <a:hlinkClick r:id="rId4"/>
              </a:rPr>
              <a:t>configuration system</a:t>
            </a: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Built-in </a:t>
            </a:r>
            <a:r>
              <a:rPr lang="en-US" sz="1200" b="0" i="0" u="none" strike="noStrike" kern="1200" dirty="0" smtClean="0">
                <a:solidFill>
                  <a:schemeClr val="tx1"/>
                </a:solidFill>
                <a:effectLst/>
                <a:latin typeface="+mn-lt"/>
                <a:ea typeface="+mn-ea"/>
                <a:cs typeface="+mn-cs"/>
                <a:hlinkClick r:id="rId5"/>
              </a:rPr>
              <a:t>dependency injection</a:t>
            </a: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New light-weight and modular HTTP request pipeline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Ability to host on IIS or self-host in your own process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Built on </a:t>
            </a:r>
            <a:r>
              <a:rPr lang="en-US" sz="1200" b="0" i="0" u="none" strike="noStrike" kern="1200" dirty="0" smtClean="0">
                <a:solidFill>
                  <a:schemeClr val="tx1"/>
                </a:solidFill>
                <a:effectLst/>
                <a:latin typeface="+mn-lt"/>
                <a:ea typeface="+mn-ea"/>
                <a:cs typeface="+mn-cs"/>
                <a:hlinkClick r:id="rId6"/>
              </a:rPr>
              <a:t>.NET Core</a:t>
            </a:r>
            <a:r>
              <a:rPr lang="en-US" sz="1200" b="0" i="0" kern="1200" dirty="0" smtClean="0">
                <a:solidFill>
                  <a:schemeClr val="tx1"/>
                </a:solidFill>
                <a:effectLst/>
                <a:latin typeface="+mn-lt"/>
                <a:ea typeface="+mn-ea"/>
                <a:cs typeface="+mn-cs"/>
              </a:rPr>
              <a:t>, which supports true side-by-side app versioning</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Ships entirely as </a:t>
            </a:r>
            <a:r>
              <a:rPr lang="en-US" sz="1200" b="0" i="0" u="none" strike="noStrike" kern="1200" dirty="0" err="1" smtClean="0">
                <a:solidFill>
                  <a:schemeClr val="tx1"/>
                </a:solidFill>
                <a:effectLst/>
                <a:latin typeface="+mn-lt"/>
                <a:ea typeface="+mn-ea"/>
                <a:cs typeface="+mn-cs"/>
                <a:hlinkClick r:id="rId7"/>
              </a:rPr>
              <a:t>NuGet</a:t>
            </a:r>
            <a:r>
              <a:rPr lang="en-US" sz="1200" b="0" i="0" kern="1200" dirty="0" smtClean="0">
                <a:solidFill>
                  <a:schemeClr val="tx1"/>
                </a:solidFill>
                <a:effectLst/>
                <a:latin typeface="+mn-lt"/>
                <a:ea typeface="+mn-ea"/>
                <a:cs typeface="+mn-cs"/>
              </a:rPr>
              <a:t> packages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New tooling that simplifies modern web development</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Build and run cross-platform ASP.NET apps on Windows, Mac and Linux</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Open source and community focused</a:t>
            </a:r>
          </a:p>
          <a:p>
            <a:endParaRPr lang="en-GB" dirty="0"/>
          </a:p>
        </p:txBody>
      </p:sp>
      <p:sp>
        <p:nvSpPr>
          <p:cNvPr id="4" name="Slide Number Placeholder 3"/>
          <p:cNvSpPr>
            <a:spLocks noGrp="1"/>
          </p:cNvSpPr>
          <p:nvPr>
            <p:ph type="sldNum" sz="quarter" idx="10"/>
          </p:nvPr>
        </p:nvSpPr>
        <p:spPr/>
        <p:txBody>
          <a:bodyPr/>
          <a:lstStyle/>
          <a:p>
            <a:fld id="{C3785FC9-A1BC-4A73-BD97-DCA941177DFB}" type="slidenum">
              <a:rPr lang="en-GB" smtClean="0"/>
              <a:t>11</a:t>
            </a:fld>
            <a:endParaRPr lang="en-GB"/>
          </a:p>
        </p:txBody>
      </p:sp>
    </p:spTree>
    <p:extLst>
      <p:ext uri="{BB962C8B-B14F-4D97-AF65-F5344CB8AC3E}">
        <p14:creationId xmlns:p14="http://schemas.microsoft.com/office/powerpoint/2010/main" val="112739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smtClean="0"/>
              <a:t>Note:</a:t>
            </a:r>
            <a:r>
              <a:rPr lang="en-US" b="1" baseline="0" dirty="0" smtClean="0"/>
              <a:t> show the trick with dot.net!!!! -&gt; open an browser and write down dot.net!!!!</a:t>
            </a:r>
          </a:p>
        </p:txBody>
      </p:sp>
      <p:sp>
        <p:nvSpPr>
          <p:cNvPr id="4" name="Slide Number Placeholder 3"/>
          <p:cNvSpPr>
            <a:spLocks noGrp="1"/>
          </p:cNvSpPr>
          <p:nvPr>
            <p:ph type="sldNum" sz="quarter" idx="10"/>
          </p:nvPr>
        </p:nvSpPr>
        <p:spPr/>
        <p:txBody>
          <a:bodyPr/>
          <a:lstStyle/>
          <a:p>
            <a:fld id="{C3785FC9-A1BC-4A73-BD97-DCA941177DFB}" type="slidenum">
              <a:rPr lang="en-GB" smtClean="0"/>
              <a:t>12</a:t>
            </a:fld>
            <a:endParaRPr lang="en-GB"/>
          </a:p>
        </p:txBody>
      </p:sp>
    </p:spTree>
    <p:extLst>
      <p:ext uri="{BB962C8B-B14F-4D97-AF65-F5344CB8AC3E}">
        <p14:creationId xmlns:p14="http://schemas.microsoft.com/office/powerpoint/2010/main" val="2232018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GB" b="1" dirty="0" smtClean="0"/>
          </a:p>
          <a:p>
            <a:pPr marL="0" indent="0">
              <a:buNone/>
            </a:pPr>
            <a:r>
              <a:rPr lang="en-US" b="1" baseline="0" dirty="0" smtClean="0"/>
              <a:t>Cross platform</a:t>
            </a:r>
          </a:p>
          <a:p>
            <a:pPr marL="0" indent="0">
              <a:buNone/>
            </a:pPr>
            <a:endParaRPr lang="en-US" b="1" baseline="0" dirty="0" smtClean="0"/>
          </a:p>
          <a:p>
            <a:pPr marL="228600" indent="-228600">
              <a:buAutoNum type="arabicPeriod"/>
            </a:pPr>
            <a:r>
              <a:rPr lang="en-US" b="1" baseline="0" dirty="0" smtClean="0"/>
              <a:t>First thing that needs to be signaled here is that till this version all the others .NET Framework version 1.0-&gt;4.5 were for development only for/in Windows platforms.</a:t>
            </a:r>
          </a:p>
          <a:p>
            <a:pPr marL="228600" indent="-228600">
              <a:buAutoNum type="arabicPeriod"/>
            </a:pPr>
            <a:r>
              <a:rPr lang="en-US" b="1" baseline="0" dirty="0" smtClean="0"/>
              <a:t>During this period there was a framework called Mono Framework, open source and compatible with .NET</a:t>
            </a:r>
          </a:p>
          <a:p>
            <a:pPr marL="228600" indent="-228600">
              <a:buAutoNum type="arabicPeriod"/>
            </a:pPr>
            <a:r>
              <a:rPr lang="en-US" b="1" baseline="0" dirty="0" smtClean="0"/>
              <a:t>With this new version Microsoft changed completely their attitude and created this new platform that now can be used not only on Windows but also on other platforms like: Mac or Linux.</a:t>
            </a:r>
          </a:p>
          <a:p>
            <a:pPr marL="228600" indent="-228600">
              <a:buAutoNum type="arabicPeriod"/>
            </a:pPr>
            <a:r>
              <a:rPr lang="en-US" b="1" baseline="0" dirty="0" smtClean="0"/>
              <a:t>In the past the only IDE available to build strong/large applications was Visual Studio. Now we can use any editor (the best one is Visual Code -&gt; can be installed on Mac or Linux as well) and we can execute any program using a console.</a:t>
            </a:r>
          </a:p>
          <a:p>
            <a:pPr marL="228600" indent="-228600">
              <a:buAutoNum type="arabicPeriod"/>
            </a:pPr>
            <a:r>
              <a:rPr lang="en-US" b="1" dirty="0" smtClean="0"/>
              <a:t>To make it work on a cross platform, Microsoft built up a new set of runtime &amp; libraries called </a:t>
            </a:r>
            <a:r>
              <a:rPr lang="en-US" b="1" dirty="0" err="1" smtClean="0"/>
              <a:t>CoreCLR</a:t>
            </a:r>
            <a:r>
              <a:rPr lang="en-US" b="1" dirty="0" smtClean="0"/>
              <a:t> and </a:t>
            </a:r>
            <a:r>
              <a:rPr lang="en-US" b="1" dirty="0" err="1" smtClean="0"/>
              <a:t>CoreFX</a:t>
            </a:r>
            <a:r>
              <a:rPr lang="en-US" b="1" dirty="0" smtClean="0"/>
              <a:t> which they compiled for every platform and generated builds.</a:t>
            </a:r>
          </a:p>
          <a:p>
            <a:pPr marL="228600" indent="-228600">
              <a:buAutoNum type="arabicPeriod"/>
            </a:pPr>
            <a:r>
              <a:rPr lang="en-US" b="1" dirty="0" smtClean="0"/>
              <a:t>With making .NET Core a Cross Platform, Microsoft removed the tightly IIS bound "</a:t>
            </a:r>
            <a:r>
              <a:rPr lang="en-US" sz="1200" b="1" kern="1200" dirty="0" err="1" smtClean="0">
                <a:solidFill>
                  <a:schemeClr val="tx1"/>
                </a:solidFill>
                <a:effectLst/>
                <a:latin typeface="+mn-lt"/>
                <a:ea typeface="+mn-ea"/>
                <a:cs typeface="+mn-cs"/>
              </a:rPr>
              <a:t>System.Web</a:t>
            </a:r>
            <a:r>
              <a:rPr lang="en-US" b="1" dirty="0" smtClean="0"/>
              <a:t>" and made it "</a:t>
            </a:r>
            <a:r>
              <a:rPr lang="en-US" sz="1200" b="1" kern="1200" dirty="0" err="1" smtClean="0">
                <a:solidFill>
                  <a:schemeClr val="tx1"/>
                </a:solidFill>
                <a:effectLst/>
                <a:latin typeface="+mn-lt"/>
                <a:ea typeface="+mn-ea"/>
                <a:cs typeface="+mn-cs"/>
              </a:rPr>
              <a:t>Microsoft.AspNetCore</a:t>
            </a:r>
            <a:r>
              <a:rPr lang="en-US" b="1" dirty="0" smtClean="0"/>
              <a:t>" which will work for all platform hosting environment.</a:t>
            </a:r>
            <a:br>
              <a:rPr lang="en-US" b="1" dirty="0" smtClean="0"/>
            </a:b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13</a:t>
            </a:fld>
            <a:endParaRPr lang="en-GB"/>
          </a:p>
        </p:txBody>
      </p:sp>
    </p:spTree>
    <p:extLst>
      <p:ext uri="{BB962C8B-B14F-4D97-AF65-F5344CB8AC3E}">
        <p14:creationId xmlns:p14="http://schemas.microsoft.com/office/powerpoint/2010/main" val="571557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smtClean="0"/>
              <a:t>Open source</a:t>
            </a:r>
          </a:p>
          <a:p>
            <a:pPr marL="0" indent="0">
              <a:buNone/>
            </a:pPr>
            <a:endParaRPr lang="en-US" b="1" dirty="0" smtClean="0"/>
          </a:p>
          <a:p>
            <a:pPr marL="228600" indent="-228600">
              <a:buAutoNum type="arabicPeriod"/>
            </a:pPr>
            <a:r>
              <a:rPr lang="en-US" b="1" dirty="0" smtClean="0"/>
              <a:t>With the world moving towards open source, Microsoft made this framework totally an open source. Also, the source code is available on GIT. You can now easily customize this framework according to your need.</a:t>
            </a:r>
            <a:br>
              <a:rPr lang="en-US" b="1" dirty="0" smtClean="0"/>
            </a:br>
            <a:endParaRPr lang="en-GB" b="1" dirty="0" smtClean="0"/>
          </a:p>
          <a:p>
            <a:pPr marL="228600" indent="-228600">
              <a:buAutoNum type="arabicPeriod"/>
            </a:pP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14</a:t>
            </a:fld>
            <a:endParaRPr lang="en-GB"/>
          </a:p>
        </p:txBody>
      </p:sp>
    </p:spTree>
    <p:extLst>
      <p:ext uri="{BB962C8B-B14F-4D97-AF65-F5344CB8AC3E}">
        <p14:creationId xmlns:p14="http://schemas.microsoft.com/office/powerpoint/2010/main" val="4154316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smtClean="0"/>
              <a:t>Optimized .NET runtime &amp; libraries</a:t>
            </a:r>
          </a:p>
          <a:p>
            <a:pPr marL="228600" indent="-228600">
              <a:buAutoNum type="arabicPeriod"/>
            </a:pPr>
            <a:endParaRPr lang="en-GB" b="1" dirty="0" smtClean="0"/>
          </a:p>
          <a:p>
            <a:pPr marL="228600" indent="-228600">
              <a:buAutoNum type="arabicPeriod"/>
            </a:pPr>
            <a:r>
              <a:rPr lang="en-US" b="1" dirty="0" smtClean="0"/>
              <a:t>With these changes, Microsoft also made changes to its libraries which were available in our GAC on installation of .NET Framework.</a:t>
            </a:r>
          </a:p>
          <a:p>
            <a:pPr marL="228600" indent="-228600">
              <a:buAutoNum type="arabicPeriod"/>
            </a:pPr>
            <a:r>
              <a:rPr lang="en-US" b="1" dirty="0" smtClean="0"/>
              <a:t>One example that I can think of, is “System” library. </a:t>
            </a:r>
          </a:p>
          <a:p>
            <a:pPr marL="228600" indent="-228600">
              <a:buAutoNum type="arabicPeriod"/>
            </a:pPr>
            <a:r>
              <a:rPr lang="en-US" b="1" dirty="0" smtClean="0"/>
              <a:t>The “System” library consists of many logical libraries, such as System.IO, </a:t>
            </a:r>
            <a:r>
              <a:rPr lang="en-US" b="1" dirty="0" err="1" smtClean="0"/>
              <a:t>System.Net</a:t>
            </a:r>
            <a:r>
              <a:rPr lang="en-US" b="1" dirty="0" smtClean="0"/>
              <a:t>, </a:t>
            </a:r>
            <a:r>
              <a:rPr lang="en-US" b="1" dirty="0" err="1" smtClean="0"/>
              <a:t>System.Configuration</a:t>
            </a:r>
            <a:r>
              <a:rPr lang="en-US" b="1" dirty="0" smtClean="0"/>
              <a:t>, etc. which </a:t>
            </a:r>
            <a:r>
              <a:rPr lang="en-US" b="1" dirty="0" err="1" smtClean="0"/>
              <a:t>getsloaded</a:t>
            </a:r>
            <a:r>
              <a:rPr lang="en-US" b="1" dirty="0" smtClean="0"/>
              <a:t> into memory every time you use “System” library. But, do you think there is a need to load the whole library when only a portion is needed? Suppose I need only System.IO, then my project should only refer System.IO instead of System as a whole. To make it a light weight and optimized, .NET Core now supports </a:t>
            </a:r>
            <a:r>
              <a:rPr lang="en-US" b="1" dirty="0" err="1" smtClean="0"/>
              <a:t>nuGet</a:t>
            </a:r>
            <a:r>
              <a:rPr lang="en-US" b="1" dirty="0" smtClean="0"/>
              <a:t> packages for each of this logical library and they will no more refer from GAC (which was available only on Windows platform)</a:t>
            </a: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15</a:t>
            </a:fld>
            <a:endParaRPr lang="en-GB"/>
          </a:p>
        </p:txBody>
      </p:sp>
    </p:spTree>
    <p:extLst>
      <p:ext uri="{BB962C8B-B14F-4D97-AF65-F5344CB8AC3E}">
        <p14:creationId xmlns:p14="http://schemas.microsoft.com/office/powerpoint/2010/main" val="1756145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smtClean="0"/>
              <a:t>Completely modular</a:t>
            </a:r>
          </a:p>
          <a:p>
            <a:pPr marL="0" indent="0">
              <a:buNone/>
            </a:pPr>
            <a:endParaRPr lang="en-US" b="1" dirty="0" smtClean="0"/>
          </a:p>
          <a:p>
            <a:pPr marL="0" indent="0">
              <a:buNone/>
            </a:pPr>
            <a:r>
              <a:rPr lang="en-US" b="1" dirty="0" smtClean="0"/>
              <a:t>Every time when there was a new feature added in any component of .NET framework, a new version was released by Microsoft. </a:t>
            </a:r>
          </a:p>
          <a:p>
            <a:pPr marL="0" indent="0">
              <a:buNone/>
            </a:pPr>
            <a:r>
              <a:rPr lang="en-US" b="1" dirty="0" smtClean="0"/>
              <a:t>For example – with ASP.NET MVC, there was a routing concept introduced until ASP.NET MVC 4 which was there in Visual Studio 2012 (.NET framework 4.5). </a:t>
            </a:r>
          </a:p>
          <a:p>
            <a:pPr marL="0" indent="0">
              <a:buNone/>
            </a:pPr>
            <a:r>
              <a:rPr lang="en-US" b="1" dirty="0" smtClean="0"/>
              <a:t>But with ASP.NET MVC 5, they introduced something called as Attribute Level Routing which was added in Visual Studio 2013 (.NET Framework 4.5.1). </a:t>
            </a:r>
          </a:p>
          <a:p>
            <a:pPr marL="0" indent="0">
              <a:buNone/>
            </a:pPr>
            <a:r>
              <a:rPr lang="en-US" b="1" dirty="0" smtClean="0"/>
              <a:t>This kind of change in components may lead to introducing new release of framework version. </a:t>
            </a:r>
          </a:p>
          <a:p>
            <a:pPr marL="0" indent="0">
              <a:buNone/>
            </a:pPr>
            <a:r>
              <a:rPr lang="en-US" b="1" dirty="0" smtClean="0"/>
              <a:t>But now, that is all gone with .NET Core, where everything is </a:t>
            </a:r>
            <a:r>
              <a:rPr lang="en-US" b="1" dirty="0" err="1" smtClean="0"/>
              <a:t>nuGet</a:t>
            </a:r>
            <a:r>
              <a:rPr lang="en-US" b="1" dirty="0" smtClean="0"/>
              <a:t> package. It became very easy to upgrade the component as it will introduce the release of </a:t>
            </a:r>
            <a:r>
              <a:rPr lang="en-US" b="1" dirty="0" err="1" smtClean="0"/>
              <a:t>nuGet</a:t>
            </a:r>
            <a:r>
              <a:rPr lang="en-US" b="1" dirty="0" smtClean="0"/>
              <a:t> package and not the whole framework. This makes everything modular.</a:t>
            </a:r>
            <a:endParaRPr lang="en-GB" b="1" dirty="0" smtClean="0"/>
          </a:p>
          <a:p>
            <a:pPr marL="228600" indent="-228600">
              <a:buAutoNum type="arabicPeriod"/>
            </a:pP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16</a:t>
            </a:fld>
            <a:endParaRPr lang="en-GB"/>
          </a:p>
        </p:txBody>
      </p:sp>
    </p:spTree>
    <p:extLst>
      <p:ext uri="{BB962C8B-B14F-4D97-AF65-F5344CB8AC3E}">
        <p14:creationId xmlns:p14="http://schemas.microsoft.com/office/powerpoint/2010/main" val="417629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GB" b="1" dirty="0" smtClean="0"/>
          </a:p>
          <a:p>
            <a:pPr marL="0" indent="0">
              <a:buNone/>
            </a:pPr>
            <a:r>
              <a:rPr lang="en-US" b="1" baseline="0" dirty="0" smtClean="0"/>
              <a:t>Introduction to CLI</a:t>
            </a:r>
          </a:p>
          <a:p>
            <a:r>
              <a:rPr lang="en-US" b="1" dirty="0" smtClean="0"/>
              <a:t>.NET Core also introduces a Command line application called as dotnet.exe. This application allows us to,</a:t>
            </a:r>
            <a:br>
              <a:rPr lang="en-US" b="1" dirty="0" smtClean="0"/>
            </a:br>
            <a:endParaRPr lang="en-US" b="1" dirty="0" smtClean="0"/>
          </a:p>
          <a:p>
            <a:pPr marL="628650" lvl="1" indent="-171450">
              <a:buFont typeface="Arial" panose="020B0604020202020204" pitchFamily="34" charset="0"/>
              <a:buChar char="•"/>
            </a:pPr>
            <a:r>
              <a:rPr lang="en-US" b="1" dirty="0" smtClean="0"/>
              <a:t>create an application </a:t>
            </a:r>
          </a:p>
          <a:p>
            <a:pPr marL="628650" lvl="1" indent="-171450">
              <a:buFont typeface="Arial" panose="020B0604020202020204" pitchFamily="34" charset="0"/>
              <a:buChar char="•"/>
            </a:pPr>
            <a:r>
              <a:rPr lang="en-US" b="1" dirty="0" smtClean="0"/>
              <a:t>execute the application</a:t>
            </a:r>
          </a:p>
          <a:p>
            <a:pPr marL="628650" lvl="1" indent="-171450">
              <a:buFont typeface="Arial" panose="020B0604020202020204" pitchFamily="34" charset="0"/>
              <a:buChar char="•"/>
            </a:pPr>
            <a:r>
              <a:rPr lang="en-US" b="1" dirty="0" smtClean="0"/>
              <a:t>run the Intermediate language</a:t>
            </a:r>
          </a:p>
          <a:p>
            <a:pPr marL="628650" lvl="1" indent="-171450">
              <a:buFont typeface="Arial" panose="020B0604020202020204" pitchFamily="34" charset="0"/>
              <a:buChar char="•"/>
            </a:pPr>
            <a:r>
              <a:rPr lang="en-US" b="1" dirty="0" smtClean="0"/>
              <a:t>host the CLR for any platform.</a:t>
            </a:r>
            <a:r>
              <a:rPr lang="en-US" dirty="0" smtClean="0"/>
              <a:t/>
            </a:r>
            <a:br>
              <a:rPr lang="en-US" dirty="0" smtClean="0"/>
            </a:br>
            <a:endParaRPr lang="en-US" dirty="0" smtClean="0"/>
          </a:p>
          <a:p>
            <a:pPr marL="0" indent="0">
              <a:buNone/>
            </a:pP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17</a:t>
            </a:fld>
            <a:endParaRPr lang="en-GB"/>
          </a:p>
        </p:txBody>
      </p:sp>
    </p:spTree>
    <p:extLst>
      <p:ext uri="{BB962C8B-B14F-4D97-AF65-F5344CB8AC3E}">
        <p14:creationId xmlns:p14="http://schemas.microsoft.com/office/powerpoint/2010/main" val="1909304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smtClean="0"/>
              <a:t>Cloud ready environment</a:t>
            </a:r>
          </a:p>
          <a:p>
            <a:pPr marL="0" indent="0">
              <a:buNone/>
            </a:pPr>
            <a:endParaRPr lang="en-US" b="1" dirty="0" smtClean="0"/>
          </a:p>
          <a:p>
            <a:pPr marL="0" indent="0">
              <a:buNone/>
            </a:pPr>
            <a:r>
              <a:rPr lang="en-US" b="1" dirty="0" smtClean="0"/>
              <a:t>With .NET Core, we can build cloud based internet connected applications, like Web Apps, IOT apps &amp; mobile backend.</a:t>
            </a:r>
            <a:endParaRPr lang="en-GB" b="1" dirty="0" smtClean="0"/>
          </a:p>
          <a:p>
            <a:pPr marL="228600" indent="-228600">
              <a:buAutoNum type="arabicPeriod"/>
            </a:pPr>
            <a:endParaRPr lang="en-US" b="1" baseline="0" dirty="0" smtClean="0"/>
          </a:p>
        </p:txBody>
      </p:sp>
      <p:sp>
        <p:nvSpPr>
          <p:cNvPr id="4" name="Slide Number Placeholder 3"/>
          <p:cNvSpPr>
            <a:spLocks noGrp="1"/>
          </p:cNvSpPr>
          <p:nvPr>
            <p:ph type="sldNum" sz="quarter" idx="10"/>
          </p:nvPr>
        </p:nvSpPr>
        <p:spPr/>
        <p:txBody>
          <a:bodyPr/>
          <a:lstStyle/>
          <a:p>
            <a:fld id="{C3785FC9-A1BC-4A73-BD97-DCA941177DFB}" type="slidenum">
              <a:rPr lang="en-GB" smtClean="0"/>
              <a:t>18</a:t>
            </a:fld>
            <a:endParaRPr lang="en-GB"/>
          </a:p>
        </p:txBody>
      </p:sp>
    </p:spTree>
    <p:extLst>
      <p:ext uri="{BB962C8B-B14F-4D97-AF65-F5344CB8AC3E}">
        <p14:creationId xmlns:p14="http://schemas.microsoft.com/office/powerpoint/2010/main" val="646183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Show the</a:t>
            </a:r>
            <a:r>
              <a:rPr lang="en-US" baseline="0" dirty="0" smtClean="0"/>
              <a:t> code</a:t>
            </a:r>
          </a:p>
          <a:p>
            <a:pPr marL="171450" indent="-171450">
              <a:buFontTx/>
              <a:buChar char="-"/>
            </a:pPr>
            <a:r>
              <a:rPr lang="en-US" baseline="0" dirty="0" smtClean="0"/>
              <a:t>Explain some parts like: controllers, views, models, startup, routing </a:t>
            </a:r>
            <a:r>
              <a:rPr lang="en-US" baseline="0" dirty="0" err="1" smtClean="0"/>
              <a:t>etc</a:t>
            </a:r>
            <a:endParaRPr lang="en-US" baseline="0" dirty="0" smtClean="0"/>
          </a:p>
          <a:p>
            <a:pPr marL="171450" indent="-171450">
              <a:buFontTx/>
              <a:buChar char="-"/>
            </a:pPr>
            <a:r>
              <a:rPr lang="en-US" baseline="0" dirty="0" smtClean="0"/>
              <a:t>Explain CLI commands</a:t>
            </a:r>
          </a:p>
          <a:p>
            <a:pPr marL="171450" indent="-171450">
              <a:buFontTx/>
              <a:buChar char="-"/>
            </a:pPr>
            <a:r>
              <a:rPr lang="en-US" baseline="0" dirty="0" smtClean="0"/>
              <a:t>Host in </a:t>
            </a:r>
            <a:r>
              <a:rPr lang="en-US" baseline="0" dirty="0" err="1" smtClean="0"/>
              <a:t>IISExpress</a:t>
            </a:r>
            <a:r>
              <a:rPr lang="en-US" baseline="0" dirty="0" smtClean="0"/>
              <a:t>, Self-Hosting, </a:t>
            </a:r>
          </a:p>
          <a:p>
            <a:pPr marL="171450" indent="-171450">
              <a:buFontTx/>
              <a:buChar char="-"/>
            </a:pPr>
            <a:endParaRPr lang="en-US" baseline="0" dirty="0" smtClean="0"/>
          </a:p>
          <a:p>
            <a:endParaRPr lang="en-GB" dirty="0"/>
          </a:p>
        </p:txBody>
      </p:sp>
      <p:sp>
        <p:nvSpPr>
          <p:cNvPr id="4" name="Slide Number Placeholder 3"/>
          <p:cNvSpPr>
            <a:spLocks noGrp="1"/>
          </p:cNvSpPr>
          <p:nvPr>
            <p:ph type="sldNum" sz="quarter" idx="10"/>
          </p:nvPr>
        </p:nvSpPr>
        <p:spPr/>
        <p:txBody>
          <a:bodyPr/>
          <a:lstStyle/>
          <a:p>
            <a:fld id="{C3785FC9-A1BC-4A73-BD97-DCA941177DFB}" type="slidenum">
              <a:rPr lang="en-GB" smtClean="0"/>
              <a:t>19</a:t>
            </a:fld>
            <a:endParaRPr lang="en-GB"/>
          </a:p>
        </p:txBody>
      </p:sp>
    </p:spTree>
    <p:extLst>
      <p:ext uri="{BB962C8B-B14F-4D97-AF65-F5344CB8AC3E}">
        <p14:creationId xmlns:p14="http://schemas.microsoft.com/office/powerpoint/2010/main" val="4225153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smtClean="0">
                <a:solidFill>
                  <a:schemeClr val="accent6">
                    <a:lumMod val="60000"/>
                    <a:lumOff val="40000"/>
                  </a:schemeClr>
                </a:solidFill>
              </a:rPr>
              <a:t>Inheritance</a:t>
            </a:r>
          </a:p>
          <a:p>
            <a:pPr marL="171450" indent="-171450">
              <a:buFont typeface="Arial" panose="020B0604020202020204" pitchFamily="34" charset="0"/>
              <a:buChar char="•"/>
            </a:pPr>
            <a:r>
              <a:rPr lang="en-US" b="1" dirty="0" smtClean="0"/>
              <a:t>Classes may derive from exiting classes.</a:t>
            </a:r>
          </a:p>
          <a:p>
            <a:pPr marL="171450" indent="-171450">
              <a:buFont typeface="Arial" panose="020B0604020202020204" pitchFamily="34" charset="0"/>
              <a:buChar char="•"/>
            </a:pPr>
            <a:r>
              <a:rPr lang="en-US" b="1" dirty="0" smtClean="0"/>
              <a:t>Existing classes are called : parent class.</a:t>
            </a:r>
            <a:r>
              <a:rPr lang="en-US" b="1" baseline="0" dirty="0" smtClean="0"/>
              <a:t> =&gt; and it is a </a:t>
            </a:r>
            <a:r>
              <a:rPr lang="en-US" b="1" baseline="0" dirty="0" smtClean="0">
                <a:solidFill>
                  <a:schemeClr val="tx1"/>
                </a:solidFill>
              </a:rPr>
              <a:t>generalization</a:t>
            </a:r>
            <a:r>
              <a:rPr lang="en-US" b="1" baseline="0" dirty="0" smtClean="0"/>
              <a:t> of the exiting class.</a:t>
            </a:r>
          </a:p>
          <a:p>
            <a:pPr marL="171450" indent="-171450">
              <a:buFont typeface="Arial" panose="020B0604020202020204" pitchFamily="34" charset="0"/>
              <a:buChar char="•"/>
            </a:pPr>
            <a:r>
              <a:rPr lang="en-US" b="1" baseline="0" dirty="0" smtClean="0"/>
              <a:t>Inheritance creates an “is –a ” relationship</a:t>
            </a:r>
          </a:p>
          <a:p>
            <a:pPr marL="171450" indent="-171450">
              <a:buFont typeface="Arial" panose="020B0604020202020204" pitchFamily="34" charset="0"/>
              <a:buChar char="•"/>
            </a:pPr>
            <a:endParaRPr lang="en-US" b="1" baseline="0" dirty="0" smtClean="0"/>
          </a:p>
          <a:p>
            <a:pPr marL="171450" indent="-171450">
              <a:buFont typeface="Arial" panose="020B0604020202020204" pitchFamily="34" charset="0"/>
              <a:buChar char="•"/>
            </a:pPr>
            <a:r>
              <a:rPr lang="en-US" sz="2000" b="1" baseline="0" dirty="0" smtClean="0"/>
              <a:t>Example: Employee&lt;=Manager, Architect, Technical Lead, Developer </a:t>
            </a:r>
            <a:endParaRPr lang="en-US" sz="2000" b="1" dirty="0" smtClean="0"/>
          </a:p>
          <a:p>
            <a:pPr marL="171450" indent="-171450">
              <a:buFont typeface="Arial" panose="020B0604020202020204" pitchFamily="34" charset="0"/>
              <a:buChar char="•"/>
            </a:pPr>
            <a:endParaRPr lang="en-US" b="1" dirty="0" smtClean="0"/>
          </a:p>
          <a:p>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20</a:t>
            </a:fld>
            <a:endParaRPr lang="en-GB"/>
          </a:p>
        </p:txBody>
      </p:sp>
    </p:spTree>
    <p:extLst>
      <p:ext uri="{BB962C8B-B14F-4D97-AF65-F5344CB8AC3E}">
        <p14:creationId xmlns:p14="http://schemas.microsoft.com/office/powerpoint/2010/main" val="3073081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Derived class indicates</a:t>
            </a:r>
            <a:r>
              <a:rPr lang="en-US" b="1" baseline="0" dirty="0" smtClean="0"/>
              <a:t> base class with colon.</a:t>
            </a:r>
          </a:p>
          <a:p>
            <a:endParaRPr lang="en-US" b="1" baseline="0" dirty="0" smtClean="0"/>
          </a:p>
          <a:p>
            <a:r>
              <a:rPr lang="en-US" b="1" baseline="0" dirty="0" smtClean="0"/>
              <a:t>Notes: </a:t>
            </a:r>
          </a:p>
          <a:p>
            <a:pPr marL="171450" indent="-171450">
              <a:buFont typeface="Arial" panose="020B0604020202020204" pitchFamily="34" charset="0"/>
              <a:buChar char="•"/>
            </a:pPr>
            <a:r>
              <a:rPr lang="en-US" b="1" baseline="0" dirty="0" smtClean="0"/>
              <a:t>classes can contain properties and fields (built-in like </a:t>
            </a:r>
            <a:r>
              <a:rPr lang="en-US" b="1" baseline="0" dirty="0" err="1" smtClean="0"/>
              <a:t>int</a:t>
            </a:r>
            <a:r>
              <a:rPr lang="en-US" b="1" baseline="0" dirty="0" smtClean="0"/>
              <a:t>, string or custom like other classes or </a:t>
            </a:r>
            <a:r>
              <a:rPr lang="en-US" b="1" baseline="0" dirty="0" err="1" smtClean="0"/>
              <a:t>struct’s</a:t>
            </a:r>
            <a:r>
              <a:rPr lang="en-US" b="1" baseline="0" dirty="0" smtClean="0"/>
              <a:t>)</a:t>
            </a:r>
          </a:p>
          <a:p>
            <a:pPr marL="171450" indent="-171450">
              <a:buFont typeface="Arial" panose="020B0604020202020204" pitchFamily="34" charset="0"/>
              <a:buChar char="•"/>
            </a:pPr>
            <a:r>
              <a:rPr lang="en-US" b="1" baseline="0" dirty="0" smtClean="0"/>
              <a:t>Fields are used to support private methods</a:t>
            </a:r>
          </a:p>
          <a:p>
            <a:pPr marL="171450" indent="-171450">
              <a:buFont typeface="Arial" panose="020B0604020202020204" pitchFamily="34" charset="0"/>
              <a:buChar char="•"/>
            </a:pPr>
            <a:r>
              <a:rPr lang="en-US" b="1" baseline="0" dirty="0" smtClean="0"/>
              <a:t>Properties are used to expose functionality to other classes</a:t>
            </a:r>
          </a:p>
          <a:p>
            <a:pPr marL="171450" indent="-171450">
              <a:buFont typeface="Arial" panose="020B0604020202020204" pitchFamily="34" charset="0"/>
              <a:buChar char="•"/>
            </a:pPr>
            <a:endParaRPr lang="en-US" b="1" baseline="0" dirty="0" smtClean="0"/>
          </a:p>
          <a:p>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21</a:t>
            </a:fld>
            <a:endParaRPr lang="en-GB"/>
          </a:p>
        </p:txBody>
      </p:sp>
    </p:spTree>
    <p:extLst>
      <p:ext uri="{BB962C8B-B14F-4D97-AF65-F5344CB8AC3E}">
        <p14:creationId xmlns:p14="http://schemas.microsoft.com/office/powerpoint/2010/main" val="1270782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Identify : properties,</a:t>
            </a:r>
            <a:r>
              <a:rPr lang="en-US" b="1" baseline="0" dirty="0" smtClean="0"/>
              <a:t> methods/behavior</a:t>
            </a:r>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22</a:t>
            </a:fld>
            <a:endParaRPr lang="en-GB"/>
          </a:p>
        </p:txBody>
      </p:sp>
    </p:spTree>
    <p:extLst>
      <p:ext uri="{BB962C8B-B14F-4D97-AF65-F5344CB8AC3E}">
        <p14:creationId xmlns:p14="http://schemas.microsoft.com/office/powerpoint/2010/main" val="2719609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Polymorphism</a:t>
            </a:r>
          </a:p>
          <a:p>
            <a:endParaRPr lang="en-US" b="1" dirty="0" smtClean="0"/>
          </a:p>
          <a:p>
            <a:r>
              <a:rPr lang="en-US" b="1" dirty="0" smtClean="0"/>
              <a:t>The possibility of taking many forms.</a:t>
            </a:r>
          </a:p>
          <a:p>
            <a:pPr marL="628650" lvl="1" indent="-171450">
              <a:buFont typeface="Arial" panose="020B0604020202020204" pitchFamily="34" charset="0"/>
              <a:buChar char="•"/>
            </a:pPr>
            <a:r>
              <a:rPr lang="en-US" b="1" dirty="0" smtClean="0"/>
              <a:t>Method overriding</a:t>
            </a:r>
            <a:r>
              <a:rPr lang="en-US" b="1" baseline="0" dirty="0" smtClean="0"/>
              <a:t> -&gt; modify a method in the derived class : C# in order to be able to use method overriding we need to know: virtual </a:t>
            </a:r>
            <a:r>
              <a:rPr lang="en-US" b="1" baseline="0" dirty="0" smtClean="0">
                <a:sym typeface="Wingdings" panose="05000000000000000000" pitchFamily="2" charset="2"/>
              </a:rPr>
              <a:t> override.</a:t>
            </a:r>
          </a:p>
          <a:p>
            <a:pPr marL="628650" lvl="1" indent="-171450">
              <a:buFont typeface="Arial" panose="020B0604020202020204" pitchFamily="34" charset="0"/>
              <a:buChar char="•"/>
            </a:pPr>
            <a:r>
              <a:rPr lang="en-US" b="1" baseline="0" dirty="0" smtClean="0"/>
              <a:t>Virtual exists in base class, override in derived class.</a:t>
            </a:r>
          </a:p>
          <a:p>
            <a:pPr marL="628650" lvl="1" indent="-171450">
              <a:buFont typeface="Arial" panose="020B0604020202020204" pitchFamily="34" charset="0"/>
              <a:buChar char="•"/>
            </a:pPr>
            <a:endParaRPr lang="en-US" b="1" dirty="0" smtClean="0"/>
          </a:p>
          <a:p>
            <a:endParaRPr lang="en-GB" dirty="0"/>
          </a:p>
        </p:txBody>
      </p:sp>
      <p:sp>
        <p:nvSpPr>
          <p:cNvPr id="4" name="Slide Number Placeholder 3"/>
          <p:cNvSpPr>
            <a:spLocks noGrp="1"/>
          </p:cNvSpPr>
          <p:nvPr>
            <p:ph type="sldNum" sz="quarter" idx="10"/>
          </p:nvPr>
        </p:nvSpPr>
        <p:spPr/>
        <p:txBody>
          <a:bodyPr/>
          <a:lstStyle/>
          <a:p>
            <a:fld id="{C3785FC9-A1BC-4A73-BD97-DCA941177DFB}" type="slidenum">
              <a:rPr lang="en-GB" smtClean="0"/>
              <a:t>23</a:t>
            </a:fld>
            <a:endParaRPr lang="en-GB"/>
          </a:p>
        </p:txBody>
      </p:sp>
    </p:spTree>
    <p:extLst>
      <p:ext uri="{BB962C8B-B14F-4D97-AF65-F5344CB8AC3E}">
        <p14:creationId xmlns:p14="http://schemas.microsoft.com/office/powerpoint/2010/main" val="3811425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Another important aspect for polymorphism is “method overloading”.</a:t>
            </a:r>
          </a:p>
          <a:p>
            <a:endParaRPr lang="en-US" b="1" dirty="0" smtClean="0"/>
          </a:p>
          <a:p>
            <a:r>
              <a:rPr lang="en-US" b="1" dirty="0" smtClean="0"/>
              <a:t>Means: we can have in the same class methods with the same name but different</a:t>
            </a:r>
            <a:r>
              <a:rPr lang="en-US" b="1" baseline="0" dirty="0" smtClean="0"/>
              <a:t> number of parameters.</a:t>
            </a:r>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25</a:t>
            </a:fld>
            <a:endParaRPr lang="en-GB"/>
          </a:p>
        </p:txBody>
      </p:sp>
    </p:spTree>
    <p:extLst>
      <p:ext uri="{BB962C8B-B14F-4D97-AF65-F5344CB8AC3E}">
        <p14:creationId xmlns:p14="http://schemas.microsoft.com/office/powerpoint/2010/main" val="456892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Encapsulation : a class should have a single responsibility. =&gt; don’t forget here, there is another set of principles : SOLID.</a:t>
            </a:r>
          </a:p>
          <a:p>
            <a:r>
              <a:rPr lang="en-US" b="1" dirty="0" smtClean="0"/>
              <a:t>Within the class we should have private</a:t>
            </a:r>
            <a:r>
              <a:rPr lang="en-US" b="1" baseline="0" dirty="0" smtClean="0"/>
              <a:t> functionality, that should not be exposed and only a : few well-defined methods that are public.</a:t>
            </a:r>
          </a:p>
          <a:p>
            <a:endParaRPr lang="en-US" b="1" baseline="0" dirty="0" smtClean="0"/>
          </a:p>
          <a:p>
            <a:r>
              <a:rPr lang="en-US" b="1" baseline="0" dirty="0" smtClean="0"/>
              <a:t>Question: Why the method should be public?</a:t>
            </a:r>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26</a:t>
            </a:fld>
            <a:endParaRPr lang="en-GB"/>
          </a:p>
        </p:txBody>
      </p:sp>
    </p:spTree>
    <p:extLst>
      <p:ext uri="{BB962C8B-B14F-4D97-AF65-F5344CB8AC3E}">
        <p14:creationId xmlns:p14="http://schemas.microsoft.com/office/powerpoint/2010/main" val="141524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There are 3 pillars in OOP. =&gt; Inheritance, polymorphism and encapsulation.</a:t>
            </a:r>
            <a:endParaRPr lang="en-GB" b="1" dirty="0"/>
          </a:p>
        </p:txBody>
      </p:sp>
      <p:sp>
        <p:nvSpPr>
          <p:cNvPr id="4" name="Slide Number Placeholder 3"/>
          <p:cNvSpPr>
            <a:spLocks noGrp="1"/>
          </p:cNvSpPr>
          <p:nvPr>
            <p:ph type="sldNum" sz="quarter" idx="10"/>
          </p:nvPr>
        </p:nvSpPr>
        <p:spPr/>
        <p:txBody>
          <a:bodyPr/>
          <a:lstStyle/>
          <a:p>
            <a:fld id="{C3785FC9-A1BC-4A73-BD97-DCA941177DFB}" type="slidenum">
              <a:rPr lang="en-GB" smtClean="0"/>
              <a:t>27</a:t>
            </a:fld>
            <a:endParaRPr lang="en-GB"/>
          </a:p>
        </p:txBody>
      </p:sp>
    </p:spTree>
    <p:extLst>
      <p:ext uri="{BB962C8B-B14F-4D97-AF65-F5344CB8AC3E}">
        <p14:creationId xmlns:p14="http://schemas.microsoft.com/office/powerpoint/2010/main" val="3961379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08-Oct-17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08-Oct-17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08-Oct-17</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08-Oct-17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08-Oct-17</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profs.info.uaic.ro/~arusoaie.andrei/lectures/NET/DotNet.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acebook.com/groups/269471780238991/" TargetMode="External"/><Relationship Id="rId2" Type="http://schemas.openxmlformats.org/officeDocument/2006/relationships/hyperlink" Target="https://www.asp.net/" TargetMode="External"/><Relationship Id="rId1" Type="http://schemas.openxmlformats.org/officeDocument/2006/relationships/slideLayout" Target="../slideLayouts/slideLayout2.xml"/><Relationship Id="rId5" Type="http://schemas.openxmlformats.org/officeDocument/2006/relationships/hyperlink" Target="https://www.microsoft.com/net/tutorials/csharp/getting-started" TargetMode="External"/><Relationship Id="rId4" Type="http://schemas.openxmlformats.org/officeDocument/2006/relationships/hyperlink" Target="https://www.microsoft.com/net/core/platform"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facebook.com/groups/269471780238991/" TargetMode="External"/><Relationship Id="rId3" Type="http://schemas.openxmlformats.org/officeDocument/2006/relationships/hyperlink" Target="mailto:arusoaie.andrei@info.uaic.ro" TargetMode="External"/><Relationship Id="rId7" Type="http://schemas.openxmlformats.org/officeDocument/2006/relationships/hyperlink" Target="mailto:dan.nastasa20@gmail.com" TargetMode="External"/><Relationship Id="rId2" Type="http://schemas.openxmlformats.org/officeDocument/2006/relationships/hyperlink" Target="mailto:andrei.arusoaie@gmail.com" TargetMode="External"/><Relationship Id="rId1" Type="http://schemas.openxmlformats.org/officeDocument/2006/relationships/slideLayout" Target="../slideLayouts/slideLayout2.xml"/><Relationship Id="rId6" Type="http://schemas.openxmlformats.org/officeDocument/2006/relationships/hyperlink" Target="mailto:Dan.Nastasa@centric.eu" TargetMode="External"/><Relationship Id="rId5" Type="http://schemas.openxmlformats.org/officeDocument/2006/relationships/hyperlink" Target="mailto:olariu@gmail.com" TargetMode="External"/><Relationship Id="rId4" Type="http://schemas.openxmlformats.org/officeDocument/2006/relationships/hyperlink" Target="mailto:florin@florinolariu.ro"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www.goodreads.com/author/show/92867.Linus_Torvalds"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www.goodreads.com/author/show/92867.Linus_Torvalds"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www.goodreads.com/author/show/92867.Linus_Torvalds"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en.wikiquote.org/wiki/Martin_Fowler" TargetMode="External"/><Relationship Id="rId2" Type="http://schemas.openxmlformats.org/officeDocument/2006/relationships/hyperlink" Target="http://www.goodreads.com/author/show/92867.Linus_Torvald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503585"/>
            <a:ext cx="7766936" cy="1646302"/>
          </a:xfrm>
        </p:spPr>
        <p:txBody>
          <a:bodyPr/>
          <a:lstStyle/>
          <a:p>
            <a:pPr algn="ctr"/>
            <a:r>
              <a:rPr lang="en-US" dirty="0" smtClean="0"/>
              <a:t>Introduction to .NET</a:t>
            </a:r>
            <a:endParaRPr lang="ro-RO" dirty="0"/>
          </a:p>
        </p:txBody>
      </p:sp>
      <p:sp>
        <p:nvSpPr>
          <p:cNvPr id="3" name="Subtitle 2"/>
          <p:cNvSpPr>
            <a:spLocks noGrp="1"/>
          </p:cNvSpPr>
          <p:nvPr>
            <p:ph type="subTitle" idx="1"/>
          </p:nvPr>
        </p:nvSpPr>
        <p:spPr/>
        <p:txBody>
          <a:bodyPr>
            <a:normAutofit fontScale="92500" lnSpcReduction="10000"/>
          </a:bodyPr>
          <a:lstStyle/>
          <a:p>
            <a:pPr algn="ctr"/>
            <a:r>
              <a:rPr lang="en-US" sz="2000" dirty="0" smtClean="0"/>
              <a:t>Florin </a:t>
            </a:r>
            <a:r>
              <a:rPr lang="en-US" sz="2000" dirty="0" err="1" smtClean="0"/>
              <a:t>Olariu</a:t>
            </a:r>
            <a:r>
              <a:rPr lang="en-US" sz="2000" dirty="0" smtClean="0"/>
              <a:t> </a:t>
            </a:r>
            <a:r>
              <a:rPr lang="en-US" sz="2000" dirty="0" smtClean="0">
                <a:latin typeface="Arial" panose="020B0604020202020204" pitchFamily="34" charset="0"/>
                <a:cs typeface="Arial" panose="020B0604020202020204" pitchFamily="34" charset="0"/>
              </a:rPr>
              <a:t>&amp;</a:t>
            </a:r>
            <a:r>
              <a:rPr lang="en-US" sz="2000" dirty="0" smtClean="0"/>
              <a:t> Andrei </a:t>
            </a:r>
            <a:r>
              <a:rPr lang="en-US" sz="2000" dirty="0" err="1" smtClean="0"/>
              <a:t>Arusoaie</a:t>
            </a:r>
            <a:endParaRPr lang="en-US" sz="2000" dirty="0" smtClean="0"/>
          </a:p>
          <a:p>
            <a:pPr algn="ctr"/>
            <a:r>
              <a:rPr lang="en-US" dirty="0" smtClean="0"/>
              <a:t>“</a:t>
            </a:r>
            <a:r>
              <a:rPr lang="en-US" dirty="0" err="1" smtClean="0"/>
              <a:t>Alexandru</a:t>
            </a:r>
            <a:r>
              <a:rPr lang="en-US" dirty="0" smtClean="0"/>
              <a:t> </a:t>
            </a:r>
            <a:r>
              <a:rPr lang="en-US" dirty="0" err="1" smtClean="0"/>
              <a:t>Ioan</a:t>
            </a:r>
            <a:r>
              <a:rPr lang="en-US" dirty="0" smtClean="0"/>
              <a:t> </a:t>
            </a:r>
            <a:r>
              <a:rPr lang="en-US" dirty="0" err="1" smtClean="0"/>
              <a:t>Cuza</a:t>
            </a:r>
            <a:r>
              <a:rPr lang="en-US" dirty="0" smtClean="0"/>
              <a:t>”, University of </a:t>
            </a:r>
            <a:r>
              <a:rPr lang="en-US" dirty="0" err="1" smtClean="0"/>
              <a:t>Ia</a:t>
            </a:r>
            <a:r>
              <a:rPr lang="ro-RO" dirty="0" smtClean="0"/>
              <a:t>ș</a:t>
            </a:r>
            <a:r>
              <a:rPr lang="en-US" dirty="0" err="1" smtClean="0"/>
              <a:t>i</a:t>
            </a:r>
            <a:endParaRPr lang="en-US" dirty="0" smtClean="0"/>
          </a:p>
          <a:p>
            <a:pPr algn="ctr"/>
            <a:r>
              <a:rPr lang="en-US" dirty="0" smtClean="0"/>
              <a:t>Department of Computer Science</a:t>
            </a:r>
          </a:p>
          <a:p>
            <a:endParaRPr lang="ro-RO" dirty="0"/>
          </a:p>
        </p:txBody>
      </p:sp>
    </p:spTree>
    <p:extLst>
      <p:ext uri="{BB962C8B-B14F-4D97-AF65-F5344CB8AC3E}">
        <p14:creationId xmlns:p14="http://schemas.microsoft.com/office/powerpoint/2010/main" val="39887679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t>
            </a:r>
            <a:endParaRPr lang="ro-RO" dirty="0"/>
          </a:p>
        </p:txBody>
      </p:sp>
      <p:sp>
        <p:nvSpPr>
          <p:cNvPr id="3" name="Content Placeholder 2"/>
          <p:cNvSpPr>
            <a:spLocks noGrp="1"/>
          </p:cNvSpPr>
          <p:nvPr>
            <p:ph idx="1"/>
          </p:nvPr>
        </p:nvSpPr>
        <p:spPr/>
        <p:txBody>
          <a:bodyPr/>
          <a:lstStyle/>
          <a:p>
            <a:r>
              <a:rPr lang="en-US" dirty="0" smtClean="0"/>
              <a:t>People: Florin Olariu </a:t>
            </a:r>
            <a:r>
              <a:rPr lang="en-US" dirty="0" smtClean="0">
                <a:latin typeface="Arial" panose="020B0604020202020204" pitchFamily="34" charset="0"/>
                <a:cs typeface="Arial" panose="020B0604020202020204" pitchFamily="34" charset="0"/>
              </a:rPr>
              <a:t>&amp;</a:t>
            </a:r>
            <a:r>
              <a:rPr lang="en-US" dirty="0" smtClean="0"/>
              <a:t> Andrei </a:t>
            </a:r>
            <a:r>
              <a:rPr lang="en-US" dirty="0" err="1" smtClean="0"/>
              <a:t>Arusoaie</a:t>
            </a:r>
            <a:r>
              <a:rPr lang="en-US" dirty="0" smtClean="0"/>
              <a:t> </a:t>
            </a:r>
            <a:r>
              <a:rPr lang="en-US" dirty="0" smtClean="0">
                <a:latin typeface="Arial" panose="020B0604020202020204" pitchFamily="34" charset="0"/>
                <a:cs typeface="Arial" panose="020B0604020202020204" pitchFamily="34" charset="0"/>
              </a:rPr>
              <a:t>&amp; </a:t>
            </a:r>
            <a:r>
              <a:rPr lang="en-US" dirty="0"/>
              <a:t>Dan Nastasa </a:t>
            </a:r>
          </a:p>
          <a:p>
            <a:r>
              <a:rPr lang="en-US" dirty="0" smtClean="0"/>
              <a:t>14 weeks (full activity) + 2 weeks for evaluation</a:t>
            </a:r>
          </a:p>
          <a:p>
            <a:r>
              <a:rPr lang="en-US" dirty="0" smtClean="0"/>
              <a:t>Final grade = round(40% * Exam + 60% * Lab + 10% * Kata’s)</a:t>
            </a:r>
          </a:p>
          <a:p>
            <a:r>
              <a:rPr lang="en-US" dirty="0" smtClean="0"/>
              <a:t>Exam: max 40 points, midterm exam</a:t>
            </a:r>
          </a:p>
          <a:p>
            <a:r>
              <a:rPr lang="en-US" dirty="0" smtClean="0"/>
              <a:t>Lab: max 70 points = 20 lab activity + 40 semester project + 10 coding kata’s</a:t>
            </a:r>
          </a:p>
          <a:p>
            <a:pPr lvl="1"/>
            <a:r>
              <a:rPr lang="en-US" dirty="0" smtClean="0"/>
              <a:t>* bonus points!</a:t>
            </a:r>
          </a:p>
          <a:p>
            <a:r>
              <a:rPr lang="en-US" dirty="0" smtClean="0"/>
              <a:t>Criteria: min 50 (Exam + Lab)</a:t>
            </a:r>
          </a:p>
          <a:p>
            <a:r>
              <a:rPr lang="en-US" dirty="0"/>
              <a:t>WEB: </a:t>
            </a:r>
            <a:r>
              <a:rPr lang="en-US" dirty="0">
                <a:hlinkClick r:id="rId2"/>
              </a:rPr>
              <a:t>http://</a:t>
            </a:r>
            <a:r>
              <a:rPr lang="en-US" dirty="0" smtClean="0">
                <a:hlinkClick r:id="rId2"/>
              </a:rPr>
              <a:t>profs.info.uaic.ro</a:t>
            </a:r>
            <a:r>
              <a:rPr lang="en-US" dirty="0">
                <a:hlinkClick r:id="rId2"/>
              </a:rPr>
              <a:t>/~</a:t>
            </a:r>
            <a:r>
              <a:rPr lang="en-US" dirty="0" smtClean="0">
                <a:hlinkClick r:id="rId2"/>
              </a:rPr>
              <a:t>arusoaie.andrei/lectures/NET/DotNet.html</a:t>
            </a:r>
            <a:endParaRPr lang="en-US" dirty="0" smtClean="0"/>
          </a:p>
          <a:p>
            <a:endParaRPr lang="en-US" dirty="0"/>
          </a:p>
        </p:txBody>
      </p:sp>
    </p:spTree>
    <p:extLst>
      <p:ext uri="{BB962C8B-B14F-4D97-AF65-F5344CB8AC3E}">
        <p14:creationId xmlns:p14="http://schemas.microsoft.com/office/powerpoint/2010/main" val="40977578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ro-RO" dirty="0"/>
          </a:p>
        </p:txBody>
      </p:sp>
      <p:sp>
        <p:nvSpPr>
          <p:cNvPr id="3" name="Content Placeholder 2"/>
          <p:cNvSpPr>
            <a:spLocks noGrp="1"/>
          </p:cNvSpPr>
          <p:nvPr>
            <p:ph idx="1"/>
          </p:nvPr>
        </p:nvSpPr>
        <p:spPr/>
        <p:txBody>
          <a:bodyPr/>
          <a:lstStyle/>
          <a:p>
            <a:r>
              <a:rPr lang="en-US" dirty="0" smtClean="0"/>
              <a:t>Books/movies: </a:t>
            </a:r>
          </a:p>
          <a:p>
            <a:pPr lvl="1"/>
            <a:r>
              <a:rPr lang="en-US" dirty="0">
                <a:hlinkClick r:id="rId2"/>
              </a:rPr>
              <a:t>https://www.asp.net</a:t>
            </a:r>
            <a:r>
              <a:rPr lang="en-US" dirty="0" smtClean="0">
                <a:hlinkClick r:id="rId2"/>
              </a:rPr>
              <a:t>/</a:t>
            </a:r>
            <a:r>
              <a:rPr lang="en-US" dirty="0" smtClean="0"/>
              <a:t> (create your Microsoft account!)</a:t>
            </a:r>
          </a:p>
          <a:p>
            <a:pPr lvl="1"/>
            <a:r>
              <a:rPr lang="en-US" dirty="0" smtClean="0"/>
              <a:t>Ask for books using </a:t>
            </a:r>
            <a:r>
              <a:rPr lang="en-US" dirty="0" smtClean="0">
                <a:hlinkClick r:id="rId3"/>
              </a:rPr>
              <a:t>Facebook</a:t>
            </a:r>
            <a:r>
              <a:rPr lang="en-US" dirty="0" smtClean="0"/>
              <a:t>	</a:t>
            </a:r>
          </a:p>
          <a:p>
            <a:r>
              <a:rPr lang="en-US" dirty="0"/>
              <a:t>Microsoft</a:t>
            </a:r>
            <a:r>
              <a:rPr lang="en-US" dirty="0" smtClean="0"/>
              <a:t>:</a:t>
            </a:r>
          </a:p>
          <a:p>
            <a:pPr lvl="1"/>
            <a:r>
              <a:rPr lang="en-US" dirty="0" smtClean="0"/>
              <a:t> </a:t>
            </a:r>
            <a:r>
              <a:rPr lang="en-US" dirty="0">
                <a:hlinkClick r:id="rId4"/>
              </a:rPr>
              <a:t>https://</a:t>
            </a:r>
            <a:r>
              <a:rPr lang="en-US" dirty="0" smtClean="0">
                <a:hlinkClick r:id="rId4"/>
              </a:rPr>
              <a:t>www.microsoft.com/net/core/platform</a:t>
            </a:r>
            <a:endParaRPr lang="en-US" dirty="0" smtClean="0"/>
          </a:p>
          <a:p>
            <a:r>
              <a:rPr lang="en-US" dirty="0"/>
              <a:t>Getting started: </a:t>
            </a:r>
            <a:endParaRPr lang="en-US" dirty="0" smtClean="0"/>
          </a:p>
          <a:p>
            <a:pPr lvl="1"/>
            <a:r>
              <a:rPr lang="en-US" dirty="0" smtClean="0">
                <a:hlinkClick r:id="rId5"/>
              </a:rPr>
              <a:t>https</a:t>
            </a:r>
            <a:r>
              <a:rPr lang="en-US" dirty="0">
                <a:hlinkClick r:id="rId5"/>
              </a:rPr>
              <a:t>://</a:t>
            </a:r>
            <a:r>
              <a:rPr lang="en-US" dirty="0" smtClean="0">
                <a:hlinkClick r:id="rId5"/>
              </a:rPr>
              <a:t>www.microsoft.com/net/tutorials/csharp/getting-started</a:t>
            </a:r>
            <a:endParaRPr lang="en-US" dirty="0" smtClean="0"/>
          </a:p>
          <a:p>
            <a:endParaRPr lang="ro-RO" dirty="0"/>
          </a:p>
        </p:txBody>
      </p:sp>
    </p:spTree>
    <p:extLst>
      <p:ext uri="{BB962C8B-B14F-4D97-AF65-F5344CB8AC3E}">
        <p14:creationId xmlns:p14="http://schemas.microsoft.com/office/powerpoint/2010/main" val="4855804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ro-RO" dirty="0"/>
          </a:p>
        </p:txBody>
      </p:sp>
      <p:sp>
        <p:nvSpPr>
          <p:cNvPr id="3" name="Content Placeholder 2"/>
          <p:cNvSpPr>
            <a:spLocks noGrp="1"/>
          </p:cNvSpPr>
          <p:nvPr>
            <p:ph idx="1"/>
          </p:nvPr>
        </p:nvSpPr>
        <p:spPr/>
        <p:txBody>
          <a:bodyPr>
            <a:normAutofit/>
          </a:bodyPr>
          <a:lstStyle/>
          <a:p>
            <a:r>
              <a:rPr lang="en-US" dirty="0" smtClean="0"/>
              <a:t>Contact:</a:t>
            </a:r>
          </a:p>
          <a:p>
            <a:pPr lvl="1"/>
            <a:r>
              <a:rPr lang="en-US" dirty="0" smtClean="0">
                <a:hlinkClick r:id="rId2"/>
              </a:rPr>
              <a:t>andrei.arusoaie@gmail.com</a:t>
            </a:r>
            <a:endParaRPr lang="en-US" dirty="0" smtClean="0"/>
          </a:p>
          <a:p>
            <a:pPr lvl="1"/>
            <a:r>
              <a:rPr lang="en-US" dirty="0" smtClean="0">
                <a:hlinkClick r:id="rId3"/>
              </a:rPr>
              <a:t>arusoaie.andrei@info.uaic.ro</a:t>
            </a:r>
            <a:endParaRPr lang="en-US" dirty="0" smtClean="0"/>
          </a:p>
          <a:p>
            <a:pPr lvl="1"/>
            <a:r>
              <a:rPr lang="en-US" dirty="0" smtClean="0">
                <a:hlinkClick r:id="rId4"/>
              </a:rPr>
              <a:t>florin@florinolariu.ro</a:t>
            </a:r>
            <a:endParaRPr lang="en-US" dirty="0" smtClean="0"/>
          </a:p>
          <a:p>
            <a:pPr lvl="1"/>
            <a:r>
              <a:rPr lang="en-US" dirty="0" smtClean="0">
                <a:hlinkClick r:id="rId5"/>
              </a:rPr>
              <a:t>olariu@gmail.com</a:t>
            </a:r>
            <a:endParaRPr lang="en-US" dirty="0" smtClean="0"/>
          </a:p>
          <a:p>
            <a:pPr lvl="1"/>
            <a:r>
              <a:rPr lang="en-US" dirty="0" smtClean="0">
                <a:hlinkClick r:id="rId6"/>
              </a:rPr>
              <a:t>Dan.Nastasa@centric.eu</a:t>
            </a:r>
            <a:endParaRPr lang="en-US" dirty="0" smtClean="0"/>
          </a:p>
          <a:p>
            <a:pPr lvl="1"/>
            <a:r>
              <a:rPr lang="en-US" dirty="0" smtClean="0">
                <a:hlinkClick r:id="rId7"/>
              </a:rPr>
              <a:t>dan.nastasa20@gmail.com</a:t>
            </a:r>
            <a:endParaRPr lang="en-US" dirty="0" smtClean="0"/>
          </a:p>
          <a:p>
            <a:r>
              <a:rPr lang="en-US" dirty="0" smtClean="0"/>
              <a:t>Facebook</a:t>
            </a:r>
            <a:r>
              <a:rPr lang="en-US" dirty="0" smtClean="0"/>
              <a:t>: </a:t>
            </a:r>
          </a:p>
          <a:p>
            <a:pPr lvl="1"/>
            <a:r>
              <a:rPr lang="en-US" dirty="0" smtClean="0">
                <a:hlinkClick r:id="rId8"/>
              </a:rPr>
              <a:t>Introduction to .NET</a:t>
            </a:r>
            <a:r>
              <a:rPr lang="en-US" dirty="0" smtClean="0"/>
              <a:t> (click!)</a:t>
            </a:r>
          </a:p>
          <a:p>
            <a:endParaRPr lang="en-US" dirty="0" smtClean="0"/>
          </a:p>
          <a:p>
            <a:pPr marL="457200" lvl="1" indent="0">
              <a:buNone/>
            </a:pPr>
            <a:endParaRPr lang="ro-RO" dirty="0"/>
          </a:p>
        </p:txBody>
      </p:sp>
    </p:spTree>
    <p:extLst>
      <p:ext uri="{BB962C8B-B14F-4D97-AF65-F5344CB8AC3E}">
        <p14:creationId xmlns:p14="http://schemas.microsoft.com/office/powerpoint/2010/main" val="10030098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a:t>
            </a:r>
            <a:endParaRPr lang="ro-RO" dirty="0"/>
          </a:p>
        </p:txBody>
      </p:sp>
      <p:sp>
        <p:nvSpPr>
          <p:cNvPr id="3" name="Content Placeholder 2"/>
          <p:cNvSpPr>
            <a:spLocks noGrp="1"/>
          </p:cNvSpPr>
          <p:nvPr>
            <p:ph idx="1"/>
          </p:nvPr>
        </p:nvSpPr>
        <p:spPr/>
        <p:txBody>
          <a:bodyPr/>
          <a:lstStyle/>
          <a:p>
            <a:r>
              <a:rPr lang="en-US" dirty="0" smtClean="0"/>
              <a:t>Why C#?</a:t>
            </a:r>
          </a:p>
          <a:p>
            <a:pPr lvl="1"/>
            <a:r>
              <a:rPr lang="en-US" dirty="0" smtClean="0"/>
              <a:t>Open source</a:t>
            </a:r>
          </a:p>
          <a:p>
            <a:pPr lvl="1"/>
            <a:r>
              <a:rPr lang="en-US" dirty="0" smtClean="0"/>
              <a:t>The platform is new (written from scratch)</a:t>
            </a:r>
          </a:p>
          <a:p>
            <a:pPr lvl="1"/>
            <a:r>
              <a:rPr lang="en-US" dirty="0" smtClean="0"/>
              <a:t>Is the first time when we can say: “Write once =&gt; deploy everywhere!”</a:t>
            </a:r>
          </a:p>
          <a:p>
            <a:pPr lvl="1"/>
            <a:r>
              <a:rPr lang="en-US" dirty="0" smtClean="0"/>
              <a:t>It has been oriented to performance</a:t>
            </a:r>
          </a:p>
          <a:p>
            <a:pPr lvl="1"/>
            <a:r>
              <a:rPr lang="en-US" dirty="0" smtClean="0"/>
              <a:t>It has a very strong middleware system built-in</a:t>
            </a:r>
          </a:p>
          <a:p>
            <a:pPr lvl="1"/>
            <a:r>
              <a:rPr lang="en-US" dirty="0" smtClean="0"/>
              <a:t>According with the trends it is the most recommended high-level language that should be learned in 2017-2020 </a:t>
            </a:r>
          </a:p>
        </p:txBody>
      </p:sp>
    </p:spTree>
    <p:extLst>
      <p:ext uri="{BB962C8B-B14F-4D97-AF65-F5344CB8AC3E}">
        <p14:creationId xmlns:p14="http://schemas.microsoft.com/office/powerpoint/2010/main" val="6039996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a:t>
            </a:r>
            <a:endParaRPr lang="ro-RO" dirty="0"/>
          </a:p>
        </p:txBody>
      </p:sp>
      <p:sp>
        <p:nvSpPr>
          <p:cNvPr id="3" name="Content Placeholder 2"/>
          <p:cNvSpPr>
            <a:spLocks noGrp="1"/>
          </p:cNvSpPr>
          <p:nvPr>
            <p:ph idx="1"/>
          </p:nvPr>
        </p:nvSpPr>
        <p:spPr/>
        <p:txBody>
          <a:bodyPr>
            <a:normAutofit lnSpcReduction="10000"/>
          </a:bodyPr>
          <a:lstStyle/>
          <a:p>
            <a:r>
              <a:rPr lang="en-US" dirty="0" smtClean="0"/>
              <a:t>Learn how to:</a:t>
            </a:r>
          </a:p>
          <a:p>
            <a:pPr lvl="1"/>
            <a:r>
              <a:rPr lang="en-US" i="1" dirty="0" smtClean="0"/>
              <a:t>Write business applications using .NET Core 2.0</a:t>
            </a:r>
          </a:p>
          <a:p>
            <a:pPr lvl="1"/>
            <a:r>
              <a:rPr lang="en-US" i="1" dirty="0" smtClean="0"/>
              <a:t>Using best practices in writing maintainable software</a:t>
            </a:r>
          </a:p>
          <a:p>
            <a:pPr lvl="1"/>
            <a:r>
              <a:rPr lang="en-US" i="1" dirty="0" smtClean="0"/>
              <a:t>How to use design patterns</a:t>
            </a:r>
          </a:p>
          <a:p>
            <a:pPr lvl="1"/>
            <a:r>
              <a:rPr lang="en-US" i="1" dirty="0" smtClean="0"/>
              <a:t>How to use architectural patterns</a:t>
            </a:r>
          </a:p>
          <a:p>
            <a:pPr lvl="1"/>
            <a:r>
              <a:rPr lang="en-US" i="1" dirty="0" smtClean="0"/>
              <a:t>How to write decoupled code</a:t>
            </a:r>
          </a:p>
          <a:p>
            <a:pPr lvl="1"/>
            <a:r>
              <a:rPr lang="en-US" i="1" dirty="0" smtClean="0"/>
              <a:t>How to build responsive web applications</a:t>
            </a:r>
          </a:p>
          <a:p>
            <a:pPr lvl="1"/>
            <a:r>
              <a:rPr lang="en-US" i="1" dirty="0" smtClean="0"/>
              <a:t>How to work in teams using Agile Development (SCRUM approach)</a:t>
            </a:r>
          </a:p>
          <a:p>
            <a:pPr lvl="1"/>
            <a:r>
              <a:rPr lang="en-US" i="1" dirty="0" smtClean="0"/>
              <a:t>How to prepare for an interview .NET oriented</a:t>
            </a:r>
          </a:p>
          <a:p>
            <a:pPr lvl="1"/>
            <a:r>
              <a:rPr lang="en-US" i="1" dirty="0" smtClean="0"/>
              <a:t>(</a:t>
            </a:r>
            <a:r>
              <a:rPr lang="en-US" i="1" dirty="0" err="1" smtClean="0"/>
              <a:t>Andrei</a:t>
            </a:r>
            <a:r>
              <a:rPr lang="en-US" i="1" dirty="0" err="1" smtClean="0">
                <a:latin typeface="Trebuchet MS (Body)"/>
                <a:cs typeface="Arial" panose="020B0604020202020204" pitchFamily="34" charset="0"/>
              </a:rPr>
              <a:t>&amp;Florin&amp;Dan</a:t>
            </a:r>
            <a:r>
              <a:rPr lang="en-US" i="1" dirty="0" smtClean="0">
                <a:latin typeface="Trebuchet MS (Body)"/>
              </a:rPr>
              <a:t>)</a:t>
            </a:r>
            <a:r>
              <a:rPr lang="en-US" i="1" dirty="0" smtClean="0"/>
              <a:t>Open for new challenges according with your(and market) needs  </a:t>
            </a:r>
            <a:endParaRPr lang="ro-RO" i="1" dirty="0"/>
          </a:p>
        </p:txBody>
      </p:sp>
    </p:spTree>
    <p:extLst>
      <p:ext uri="{BB962C8B-B14F-4D97-AF65-F5344CB8AC3E}">
        <p14:creationId xmlns:p14="http://schemas.microsoft.com/office/powerpoint/2010/main" val="2336083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GB" dirty="0"/>
          </a:p>
        </p:txBody>
      </p:sp>
      <p:sp>
        <p:nvSpPr>
          <p:cNvPr id="3" name="Content Placeholder 2"/>
          <p:cNvSpPr>
            <a:spLocks noGrp="1"/>
          </p:cNvSpPr>
          <p:nvPr>
            <p:ph idx="1"/>
          </p:nvPr>
        </p:nvSpPr>
        <p:spPr/>
        <p:txBody>
          <a:bodyPr/>
          <a:lstStyle/>
          <a:p>
            <a:r>
              <a:rPr lang="en-US" dirty="0"/>
              <a:t>What is .NET </a:t>
            </a:r>
            <a:r>
              <a:rPr lang="en-US" dirty="0" smtClean="0"/>
              <a:t>Core? What is .NET Framework?</a:t>
            </a:r>
          </a:p>
          <a:p>
            <a:r>
              <a:rPr lang="en-US" dirty="0" smtClean="0"/>
              <a:t>Overview on ASP.NET Core</a:t>
            </a:r>
            <a:endParaRPr lang="en-US" dirty="0"/>
          </a:p>
          <a:p>
            <a:r>
              <a:rPr lang="en-US" dirty="0"/>
              <a:t>What is new about this framework?</a:t>
            </a:r>
          </a:p>
          <a:p>
            <a:r>
              <a:rPr lang="en-US" dirty="0" smtClean="0"/>
              <a:t>Sample: Developing </a:t>
            </a:r>
            <a:r>
              <a:rPr lang="en-US" dirty="0"/>
              <a:t>sample </a:t>
            </a:r>
            <a:r>
              <a:rPr lang="en-US"/>
              <a:t>web </a:t>
            </a:r>
            <a:r>
              <a:rPr lang="en-US" smtClean="0"/>
              <a:t>application.</a:t>
            </a:r>
            <a:endParaRPr lang="en-US" dirty="0" smtClean="0"/>
          </a:p>
          <a:p>
            <a:r>
              <a:rPr lang="en-US" dirty="0" smtClean="0"/>
              <a:t>OOP in .NET Core</a:t>
            </a:r>
          </a:p>
          <a:p>
            <a:r>
              <a:rPr lang="en-US" dirty="0"/>
              <a:t>NET Framework – C# access modifiers and other common types</a:t>
            </a:r>
            <a:endParaRPr lang="en-US" dirty="0" smtClean="0"/>
          </a:p>
          <a:p>
            <a:endParaRPr lang="en-US" dirty="0"/>
          </a:p>
          <a:p>
            <a:endParaRPr lang="en-GB" dirty="0"/>
          </a:p>
        </p:txBody>
      </p:sp>
    </p:spTree>
    <p:extLst>
      <p:ext uri="{BB962C8B-B14F-4D97-AF65-F5344CB8AC3E}">
        <p14:creationId xmlns:p14="http://schemas.microsoft.com/office/powerpoint/2010/main" val="42623572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.NET Core? What is .NET Framework</a:t>
            </a:r>
            <a:r>
              <a:rPr lang="en-US" dirty="0" smtClean="0"/>
              <a:t>?</a:t>
            </a:r>
            <a:r>
              <a:rPr lang="en-US" dirty="0"/>
              <a:t/>
            </a:r>
            <a:br>
              <a:rPr lang="en-US" dirty="0"/>
            </a:b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966252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.NET Core? What is .NET Framework</a:t>
            </a:r>
            <a:r>
              <a:rPr lang="en-US" dirty="0" smtClean="0"/>
              <a:t>?</a:t>
            </a:r>
            <a:r>
              <a:rPr lang="en-US" dirty="0"/>
              <a:t/>
            </a:r>
            <a:br>
              <a:rPr lang="en-US" dirty="0"/>
            </a:br>
            <a:endParaRPr lang="en-GB" dirty="0"/>
          </a:p>
        </p:txBody>
      </p:sp>
      <p:pic>
        <p:nvPicPr>
          <p:cNvPr id="4" name="Content Placeholder 3"/>
          <p:cNvPicPr>
            <a:picLocks noGrp="1" noChangeAspect="1"/>
          </p:cNvPicPr>
          <p:nvPr>
            <p:ph idx="1"/>
          </p:nvPr>
        </p:nvPicPr>
        <p:blipFill>
          <a:blip r:embed="rId3"/>
          <a:stretch>
            <a:fillRect/>
          </a:stretch>
        </p:blipFill>
        <p:spPr>
          <a:xfrm>
            <a:off x="2183390" y="2328497"/>
            <a:ext cx="6487951" cy="2984908"/>
          </a:xfrm>
          <a:prstGeom prst="rect">
            <a:avLst/>
          </a:prstGeom>
        </p:spPr>
      </p:pic>
      <p:sp>
        <p:nvSpPr>
          <p:cNvPr id="5" name="Rectangle 4"/>
          <p:cNvSpPr/>
          <p:nvPr/>
        </p:nvSpPr>
        <p:spPr>
          <a:xfrm>
            <a:off x="2782249" y="5526836"/>
            <a:ext cx="5290231" cy="369332"/>
          </a:xfrm>
          <a:prstGeom prst="rect">
            <a:avLst/>
          </a:prstGeom>
        </p:spPr>
        <p:txBody>
          <a:bodyPr wrap="none">
            <a:spAutoFit/>
          </a:bodyPr>
          <a:lstStyle/>
          <a:p>
            <a:r>
              <a:rPr lang="en-GB" dirty="0"/>
              <a:t>Image source: https://blogs.msdn.microsoft.com</a:t>
            </a:r>
          </a:p>
        </p:txBody>
      </p:sp>
    </p:spTree>
    <p:extLst>
      <p:ext uri="{BB962C8B-B14F-4D97-AF65-F5344CB8AC3E}">
        <p14:creationId xmlns:p14="http://schemas.microsoft.com/office/powerpoint/2010/main" val="33935850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on </a:t>
            </a:r>
            <a:r>
              <a:rPr lang="en-US" dirty="0" smtClean="0"/>
              <a:t>ASP.NET Core</a:t>
            </a:r>
            <a:r>
              <a:rPr lang="en-US" dirty="0"/>
              <a:t/>
            </a:r>
            <a:br>
              <a:rPr lang="en-US" dirty="0"/>
            </a:b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3367020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on </a:t>
            </a:r>
            <a:r>
              <a:rPr lang="en-US" dirty="0" smtClean="0"/>
              <a:t>ASP.NET Core</a:t>
            </a:r>
            <a:r>
              <a:rPr lang="en-US" dirty="0"/>
              <a:t/>
            </a:r>
            <a:br>
              <a:rPr lang="en-US" dirty="0"/>
            </a:br>
            <a:endParaRPr lang="en-GB"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2292" y="1930400"/>
            <a:ext cx="6936408" cy="3228975"/>
          </a:xfrm>
        </p:spPr>
      </p:pic>
    </p:spTree>
    <p:extLst>
      <p:ext uri="{BB962C8B-B14F-4D97-AF65-F5344CB8AC3E}">
        <p14:creationId xmlns:p14="http://schemas.microsoft.com/office/powerpoint/2010/main" val="34121338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28781735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endParaRPr lang="en-GB" dirty="0"/>
          </a:p>
        </p:txBody>
      </p:sp>
    </p:spTree>
    <p:extLst>
      <p:ext uri="{BB962C8B-B14F-4D97-AF65-F5344CB8AC3E}">
        <p14:creationId xmlns:p14="http://schemas.microsoft.com/office/powerpoint/2010/main" val="16325787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pPr marL="228600" indent="-228600">
              <a:buAutoNum type="arabicPeriod"/>
            </a:pPr>
            <a:r>
              <a:rPr lang="en-GB" b="1" dirty="0"/>
              <a:t>Open source</a:t>
            </a:r>
          </a:p>
          <a:p>
            <a:endParaRPr lang="en-GB" dirty="0"/>
          </a:p>
        </p:txBody>
      </p:sp>
    </p:spTree>
    <p:extLst>
      <p:ext uri="{BB962C8B-B14F-4D97-AF65-F5344CB8AC3E}">
        <p14:creationId xmlns:p14="http://schemas.microsoft.com/office/powerpoint/2010/main" val="14638825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pPr marL="228600" indent="-228600">
              <a:buAutoNum type="arabicPeriod"/>
            </a:pPr>
            <a:r>
              <a:rPr lang="en-GB" b="1" dirty="0"/>
              <a:t>Open source</a:t>
            </a:r>
          </a:p>
          <a:p>
            <a:pPr marL="228600" indent="-228600">
              <a:buAutoNum type="arabicPeriod"/>
            </a:pPr>
            <a:r>
              <a:rPr lang="en-GB" b="1" dirty="0"/>
              <a:t>Optimized .NET runtime &amp; libraries</a:t>
            </a:r>
          </a:p>
          <a:p>
            <a:endParaRPr lang="en-GB" dirty="0"/>
          </a:p>
        </p:txBody>
      </p:sp>
    </p:spTree>
    <p:extLst>
      <p:ext uri="{BB962C8B-B14F-4D97-AF65-F5344CB8AC3E}">
        <p14:creationId xmlns:p14="http://schemas.microsoft.com/office/powerpoint/2010/main" val="3597775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pPr marL="228600" indent="-228600">
              <a:buAutoNum type="arabicPeriod"/>
            </a:pPr>
            <a:r>
              <a:rPr lang="en-GB" b="1" dirty="0"/>
              <a:t>Open source</a:t>
            </a:r>
          </a:p>
          <a:p>
            <a:pPr marL="228600" indent="-228600">
              <a:buAutoNum type="arabicPeriod"/>
            </a:pPr>
            <a:r>
              <a:rPr lang="en-GB" b="1" dirty="0"/>
              <a:t>Optimized .NET runtime &amp; </a:t>
            </a:r>
            <a:r>
              <a:rPr lang="en-GB" b="1" dirty="0" smtClean="0"/>
              <a:t>libraries</a:t>
            </a:r>
          </a:p>
          <a:p>
            <a:pPr marL="228600" indent="-228600">
              <a:buAutoNum type="arabicPeriod"/>
            </a:pPr>
            <a:r>
              <a:rPr lang="en-GB" b="1" dirty="0"/>
              <a:t>Completely </a:t>
            </a:r>
            <a:r>
              <a:rPr lang="en-GB" b="1" dirty="0" smtClean="0"/>
              <a:t>modular</a:t>
            </a:r>
          </a:p>
          <a:p>
            <a:pPr marL="228600" indent="-228600">
              <a:buAutoNum type="arabicPeriod"/>
            </a:pPr>
            <a:endParaRPr lang="en-GB" b="1" dirty="0"/>
          </a:p>
          <a:p>
            <a:endParaRPr lang="en-GB" dirty="0"/>
          </a:p>
        </p:txBody>
      </p:sp>
    </p:spTree>
    <p:extLst>
      <p:ext uri="{BB962C8B-B14F-4D97-AF65-F5344CB8AC3E}">
        <p14:creationId xmlns:p14="http://schemas.microsoft.com/office/powerpoint/2010/main" val="26913945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pPr marL="228600" indent="-228600">
              <a:buAutoNum type="arabicPeriod"/>
            </a:pPr>
            <a:r>
              <a:rPr lang="en-GB" b="1" dirty="0"/>
              <a:t>Open source</a:t>
            </a:r>
          </a:p>
          <a:p>
            <a:pPr marL="228600" indent="-228600">
              <a:buAutoNum type="arabicPeriod"/>
            </a:pPr>
            <a:r>
              <a:rPr lang="en-GB" b="1" dirty="0"/>
              <a:t>Optimized .NET runtime &amp; </a:t>
            </a:r>
            <a:r>
              <a:rPr lang="en-GB" b="1" dirty="0" smtClean="0"/>
              <a:t>libraries</a:t>
            </a:r>
          </a:p>
          <a:p>
            <a:pPr marL="228600" indent="-228600">
              <a:buAutoNum type="arabicPeriod"/>
            </a:pPr>
            <a:r>
              <a:rPr lang="en-GB" b="1" dirty="0"/>
              <a:t>Completely </a:t>
            </a:r>
            <a:r>
              <a:rPr lang="en-GB" b="1" dirty="0" smtClean="0"/>
              <a:t>modular</a:t>
            </a:r>
          </a:p>
          <a:p>
            <a:pPr marL="228600" indent="-228600">
              <a:buAutoNum type="arabicPeriod"/>
            </a:pPr>
            <a:r>
              <a:rPr lang="en-GB" b="1" dirty="0"/>
              <a:t>Introduction to </a:t>
            </a:r>
            <a:r>
              <a:rPr lang="en-GB" b="1" dirty="0" smtClean="0"/>
              <a:t>CLI</a:t>
            </a:r>
          </a:p>
          <a:p>
            <a:pPr marL="228600" indent="-228600">
              <a:buAutoNum type="arabicPeriod"/>
            </a:pPr>
            <a:endParaRPr lang="en-GB" b="1" dirty="0" smtClean="0"/>
          </a:p>
          <a:p>
            <a:pPr marL="228600" indent="-228600">
              <a:buAutoNum type="arabicPeriod"/>
            </a:pPr>
            <a:endParaRPr lang="en-GB" b="1" dirty="0"/>
          </a:p>
          <a:p>
            <a:endParaRPr lang="en-GB" dirty="0"/>
          </a:p>
        </p:txBody>
      </p:sp>
    </p:spTree>
    <p:extLst>
      <p:ext uri="{BB962C8B-B14F-4D97-AF65-F5344CB8AC3E}">
        <p14:creationId xmlns:p14="http://schemas.microsoft.com/office/powerpoint/2010/main" val="40348602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about this framework?</a:t>
            </a:r>
            <a:br>
              <a:rPr lang="en-US" dirty="0"/>
            </a:br>
            <a:endParaRPr lang="en-GB" dirty="0"/>
          </a:p>
        </p:txBody>
      </p:sp>
      <p:sp>
        <p:nvSpPr>
          <p:cNvPr id="3" name="Content Placeholder 2"/>
          <p:cNvSpPr>
            <a:spLocks noGrp="1"/>
          </p:cNvSpPr>
          <p:nvPr>
            <p:ph idx="1"/>
          </p:nvPr>
        </p:nvSpPr>
        <p:spPr/>
        <p:txBody>
          <a:bodyPr/>
          <a:lstStyle/>
          <a:p>
            <a:pPr marL="228600" indent="-228600">
              <a:buAutoNum type="arabicPeriod"/>
            </a:pPr>
            <a:r>
              <a:rPr lang="en-GB" b="1" dirty="0"/>
              <a:t>Cross platform</a:t>
            </a:r>
          </a:p>
          <a:p>
            <a:pPr marL="228600" indent="-228600">
              <a:buAutoNum type="arabicPeriod"/>
            </a:pPr>
            <a:r>
              <a:rPr lang="en-GB" b="1" dirty="0"/>
              <a:t>Open source</a:t>
            </a:r>
          </a:p>
          <a:p>
            <a:pPr marL="228600" indent="-228600">
              <a:buAutoNum type="arabicPeriod"/>
            </a:pPr>
            <a:r>
              <a:rPr lang="en-GB" b="1" dirty="0"/>
              <a:t>Optimized .NET runtime &amp; </a:t>
            </a:r>
            <a:r>
              <a:rPr lang="en-GB" b="1" dirty="0" smtClean="0"/>
              <a:t>libraries</a:t>
            </a:r>
          </a:p>
          <a:p>
            <a:pPr marL="228600" indent="-228600">
              <a:buAutoNum type="arabicPeriod"/>
            </a:pPr>
            <a:r>
              <a:rPr lang="en-GB" b="1" dirty="0"/>
              <a:t>Completely </a:t>
            </a:r>
            <a:r>
              <a:rPr lang="en-GB" b="1" dirty="0" smtClean="0"/>
              <a:t>modular</a:t>
            </a:r>
          </a:p>
          <a:p>
            <a:pPr marL="228600" indent="-228600">
              <a:buAutoNum type="arabicPeriod"/>
            </a:pPr>
            <a:r>
              <a:rPr lang="en-GB" b="1" dirty="0"/>
              <a:t>Introduction to </a:t>
            </a:r>
            <a:r>
              <a:rPr lang="en-GB" b="1" dirty="0" smtClean="0"/>
              <a:t>CLI</a:t>
            </a:r>
          </a:p>
          <a:p>
            <a:pPr marL="228600" indent="-228600">
              <a:buAutoNum type="arabicPeriod"/>
            </a:pPr>
            <a:r>
              <a:rPr lang="en-GB" b="1" dirty="0"/>
              <a:t>Cloud ready environment </a:t>
            </a:r>
            <a:endParaRPr lang="en-GB" b="1" dirty="0" smtClean="0"/>
          </a:p>
          <a:p>
            <a:pPr marL="228600" indent="-228600">
              <a:buAutoNum type="arabicPeriod"/>
            </a:pPr>
            <a:endParaRPr lang="en-GB" b="1" dirty="0" smtClean="0"/>
          </a:p>
          <a:p>
            <a:pPr marL="228600" indent="-228600">
              <a:buAutoNum type="arabicPeriod"/>
            </a:pPr>
            <a:endParaRPr lang="en-GB" b="1" dirty="0"/>
          </a:p>
          <a:p>
            <a:endParaRPr lang="en-GB" dirty="0"/>
          </a:p>
        </p:txBody>
      </p:sp>
    </p:spTree>
    <p:extLst>
      <p:ext uri="{BB962C8B-B14F-4D97-AF65-F5344CB8AC3E}">
        <p14:creationId xmlns:p14="http://schemas.microsoft.com/office/powerpoint/2010/main" val="38370858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Sample: Developing sample web </a:t>
            </a:r>
            <a:r>
              <a:rPr lang="en-US" dirty="0" smtClean="0"/>
              <a:t>application</a:t>
            </a:r>
            <a:r>
              <a:rPr lang="en-US" dirty="0"/>
              <a:t/>
            </a:r>
            <a:br>
              <a:rPr lang="en-US" dirty="0"/>
            </a:br>
            <a:endParaRPr lang="en-GB" dirty="0"/>
          </a:p>
        </p:txBody>
      </p:sp>
      <p:sp>
        <p:nvSpPr>
          <p:cNvPr id="3" name="Content Placeholder 2"/>
          <p:cNvSpPr>
            <a:spLocks noGrp="1"/>
          </p:cNvSpPr>
          <p:nvPr>
            <p:ph idx="1"/>
          </p:nvPr>
        </p:nvSpPr>
        <p:spPr/>
        <p:txBody>
          <a:bodyPr/>
          <a:lstStyle/>
          <a:p>
            <a:r>
              <a:rPr lang="en-US" dirty="0" smtClean="0"/>
              <a:t>DEMO</a:t>
            </a:r>
            <a:endParaRPr lang="en-GB" dirty="0"/>
          </a:p>
        </p:txBody>
      </p:sp>
    </p:spTree>
    <p:extLst>
      <p:ext uri="{BB962C8B-B14F-4D97-AF65-F5344CB8AC3E}">
        <p14:creationId xmlns:p14="http://schemas.microsoft.com/office/powerpoint/2010/main" val="22293187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Core</a:t>
            </a:r>
            <a:endParaRPr lang="en-GB" dirty="0"/>
          </a:p>
        </p:txBody>
      </p:sp>
      <p:sp>
        <p:nvSpPr>
          <p:cNvPr id="3" name="Content Placeholder 2"/>
          <p:cNvSpPr>
            <a:spLocks noGrp="1"/>
          </p:cNvSpPr>
          <p:nvPr>
            <p:ph idx="1"/>
          </p:nvPr>
        </p:nvSpPr>
        <p:spPr/>
        <p:txBody>
          <a:bodyPr/>
          <a:lstStyle/>
          <a:p>
            <a:endParaRPr lang="en-GB" dirty="0"/>
          </a:p>
        </p:txBody>
      </p:sp>
      <p:sp>
        <p:nvSpPr>
          <p:cNvPr id="8" name="Rounded Rectangle 7"/>
          <p:cNvSpPr/>
          <p:nvPr/>
        </p:nvSpPr>
        <p:spPr>
          <a:xfrm>
            <a:off x="1287887"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I</a:t>
            </a: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nheritance</a:t>
            </a:r>
            <a:endParaRPr lang="en-GB"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6805456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a:t>
            </a:r>
            <a:r>
              <a:rPr lang="en-US" dirty="0" smtClean="0"/>
              <a:t>Core – inheritance</a:t>
            </a:r>
            <a:endParaRPr lang="en-GB" dirty="0"/>
          </a:p>
        </p:txBody>
      </p:sp>
      <p:pic>
        <p:nvPicPr>
          <p:cNvPr id="4" name="Content Placeholder 3"/>
          <p:cNvPicPr>
            <a:picLocks noGrp="1" noChangeAspect="1"/>
          </p:cNvPicPr>
          <p:nvPr>
            <p:ph idx="1"/>
          </p:nvPr>
        </p:nvPicPr>
        <p:blipFill>
          <a:blip r:embed="rId3"/>
          <a:stretch>
            <a:fillRect/>
          </a:stretch>
        </p:blipFill>
        <p:spPr>
          <a:xfrm>
            <a:off x="3410033" y="1250254"/>
            <a:ext cx="3866530" cy="5086152"/>
          </a:xfrm>
          <a:prstGeom prst="rect">
            <a:avLst/>
          </a:prstGeom>
        </p:spPr>
      </p:pic>
    </p:spTree>
    <p:extLst>
      <p:ext uri="{BB962C8B-B14F-4D97-AF65-F5344CB8AC3E}">
        <p14:creationId xmlns:p14="http://schemas.microsoft.com/office/powerpoint/2010/main" val="23527123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OOP in .NET Core - inheritance</a:t>
            </a:r>
            <a:endParaRPr lang="en-GB" dirty="0"/>
          </a:p>
        </p:txBody>
      </p:sp>
      <p:pic>
        <p:nvPicPr>
          <p:cNvPr id="4" name="Content Placeholder 3"/>
          <p:cNvPicPr>
            <a:picLocks noGrp="1" noChangeAspect="1"/>
          </p:cNvPicPr>
          <p:nvPr>
            <p:ph idx="1"/>
          </p:nvPr>
        </p:nvPicPr>
        <p:blipFill>
          <a:blip r:embed="rId3"/>
          <a:stretch>
            <a:fillRect/>
          </a:stretch>
        </p:blipFill>
        <p:spPr>
          <a:xfrm>
            <a:off x="2751931" y="1635617"/>
            <a:ext cx="5199480" cy="4308777"/>
          </a:xfrm>
          <a:prstGeom prst="rect">
            <a:avLst/>
          </a:prstGeom>
        </p:spPr>
      </p:pic>
    </p:spTree>
    <p:extLst>
      <p:ext uri="{BB962C8B-B14F-4D97-AF65-F5344CB8AC3E}">
        <p14:creationId xmlns:p14="http://schemas.microsoft.com/office/powerpoint/2010/main" val="3485140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a:t>
            </a:r>
            <a:r>
              <a:rPr lang="en-US" dirty="0" smtClean="0"/>
              <a:t>Core - polymorphism</a:t>
            </a:r>
            <a:endParaRPr lang="en-GB" dirty="0"/>
          </a:p>
        </p:txBody>
      </p:sp>
      <p:sp>
        <p:nvSpPr>
          <p:cNvPr id="3" name="Content Placeholder 2"/>
          <p:cNvSpPr>
            <a:spLocks noGrp="1"/>
          </p:cNvSpPr>
          <p:nvPr>
            <p:ph idx="1"/>
          </p:nvPr>
        </p:nvSpPr>
        <p:spPr/>
        <p:txBody>
          <a:bodyPr/>
          <a:lstStyle/>
          <a:p>
            <a:endParaRPr lang="en-GB" dirty="0"/>
          </a:p>
        </p:txBody>
      </p:sp>
      <p:sp>
        <p:nvSpPr>
          <p:cNvPr id="5" name="Rounded Rectangle 4"/>
          <p:cNvSpPr/>
          <p:nvPr/>
        </p:nvSpPr>
        <p:spPr>
          <a:xfrm>
            <a:off x="3907545"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Polymorphism</a:t>
            </a:r>
            <a:endParaRPr lang="en-GB"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0791881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Core - polymorphism</a:t>
            </a:r>
            <a:endParaRPr lang="en-GB" dirty="0"/>
          </a:p>
        </p:txBody>
      </p:sp>
      <p:pic>
        <p:nvPicPr>
          <p:cNvPr id="5" name="Content Placeholder 4"/>
          <p:cNvPicPr>
            <a:picLocks noGrp="1" noChangeAspect="1"/>
          </p:cNvPicPr>
          <p:nvPr>
            <p:ph idx="1"/>
          </p:nvPr>
        </p:nvPicPr>
        <p:blipFill>
          <a:blip r:embed="rId2"/>
          <a:stretch>
            <a:fillRect/>
          </a:stretch>
        </p:blipFill>
        <p:spPr>
          <a:xfrm>
            <a:off x="3383344" y="1392190"/>
            <a:ext cx="3815946" cy="4649836"/>
          </a:xfrm>
          <a:prstGeom prst="rect">
            <a:avLst/>
          </a:prstGeom>
        </p:spPr>
      </p:pic>
    </p:spTree>
    <p:extLst>
      <p:ext uri="{BB962C8B-B14F-4D97-AF65-F5344CB8AC3E}">
        <p14:creationId xmlns:p14="http://schemas.microsoft.com/office/powerpoint/2010/main" val="941078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Core - polymorphism</a:t>
            </a:r>
            <a:endParaRPr lang="en-GB" dirty="0"/>
          </a:p>
        </p:txBody>
      </p:sp>
      <p:pic>
        <p:nvPicPr>
          <p:cNvPr id="4" name="Content Placeholder 3"/>
          <p:cNvPicPr>
            <a:picLocks noGrp="1" noChangeAspect="1"/>
          </p:cNvPicPr>
          <p:nvPr>
            <p:ph idx="1"/>
          </p:nvPr>
        </p:nvPicPr>
        <p:blipFill>
          <a:blip r:embed="rId3"/>
          <a:stretch>
            <a:fillRect/>
          </a:stretch>
        </p:blipFill>
        <p:spPr>
          <a:xfrm>
            <a:off x="2516958" y="1762976"/>
            <a:ext cx="5867187" cy="4190706"/>
          </a:xfrm>
          <a:prstGeom prst="rect">
            <a:avLst/>
          </a:prstGeom>
        </p:spPr>
      </p:pic>
    </p:spTree>
    <p:extLst>
      <p:ext uri="{BB962C8B-B14F-4D97-AF65-F5344CB8AC3E}">
        <p14:creationId xmlns:p14="http://schemas.microsoft.com/office/powerpoint/2010/main" val="1524454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a:t>
            </a:r>
            <a:r>
              <a:rPr lang="en-US" dirty="0" smtClean="0"/>
              <a:t>Core - encapsulation</a:t>
            </a:r>
            <a:endParaRPr lang="en-GB" dirty="0"/>
          </a:p>
        </p:txBody>
      </p:sp>
      <p:sp>
        <p:nvSpPr>
          <p:cNvPr id="3" name="Content Placeholder 2"/>
          <p:cNvSpPr>
            <a:spLocks noGrp="1"/>
          </p:cNvSpPr>
          <p:nvPr>
            <p:ph idx="1"/>
          </p:nvPr>
        </p:nvSpPr>
        <p:spPr/>
        <p:txBody>
          <a:bodyPr/>
          <a:lstStyle/>
          <a:p>
            <a:endParaRPr lang="en-GB" dirty="0"/>
          </a:p>
        </p:txBody>
      </p:sp>
      <p:sp>
        <p:nvSpPr>
          <p:cNvPr id="6" name="Rounded Rectangle 5"/>
          <p:cNvSpPr/>
          <p:nvPr/>
        </p:nvSpPr>
        <p:spPr>
          <a:xfrm>
            <a:off x="6590773"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Encapsulation</a:t>
            </a:r>
            <a:endParaRPr lang="en-GB"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0139000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in .NET Core</a:t>
            </a:r>
            <a:endParaRPr lang="en-GB" dirty="0"/>
          </a:p>
        </p:txBody>
      </p:sp>
      <p:sp>
        <p:nvSpPr>
          <p:cNvPr id="3" name="Content Placeholder 2"/>
          <p:cNvSpPr>
            <a:spLocks noGrp="1"/>
          </p:cNvSpPr>
          <p:nvPr>
            <p:ph idx="1"/>
          </p:nvPr>
        </p:nvSpPr>
        <p:spPr/>
        <p:txBody>
          <a:bodyPr/>
          <a:lstStyle/>
          <a:p>
            <a:endParaRPr lang="en-GB" dirty="0"/>
          </a:p>
        </p:txBody>
      </p:sp>
      <p:sp>
        <p:nvSpPr>
          <p:cNvPr id="8" name="Rounded Rectangle 7"/>
          <p:cNvSpPr/>
          <p:nvPr/>
        </p:nvSpPr>
        <p:spPr>
          <a:xfrm>
            <a:off x="1287887"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I</a:t>
            </a: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nheritance</a:t>
            </a:r>
            <a:endParaRPr lang="en-GB" dirty="0">
              <a:ln w="0"/>
              <a:solidFill>
                <a:schemeClr val="accent1"/>
              </a:solidFill>
              <a:effectLst>
                <a:outerShdw blurRad="38100" dist="25400" dir="5400000" algn="ctr" rotWithShape="0">
                  <a:srgbClr val="6E747A">
                    <a:alpha val="43000"/>
                  </a:srgbClr>
                </a:outerShdw>
              </a:effectLst>
            </a:endParaRPr>
          </a:p>
        </p:txBody>
      </p:sp>
      <p:sp>
        <p:nvSpPr>
          <p:cNvPr id="5" name="Rounded Rectangle 4"/>
          <p:cNvSpPr/>
          <p:nvPr/>
        </p:nvSpPr>
        <p:spPr>
          <a:xfrm>
            <a:off x="3907545"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Polymorphism</a:t>
            </a:r>
            <a:endParaRPr lang="en-GB" dirty="0">
              <a:ln w="0"/>
              <a:solidFill>
                <a:schemeClr val="accent1"/>
              </a:solidFill>
              <a:effectLst>
                <a:outerShdw blurRad="38100" dist="25400" dir="5400000" algn="ctr" rotWithShape="0">
                  <a:srgbClr val="6E747A">
                    <a:alpha val="43000"/>
                  </a:srgbClr>
                </a:outerShdw>
              </a:effectLst>
            </a:endParaRPr>
          </a:p>
        </p:txBody>
      </p:sp>
      <p:sp>
        <p:nvSpPr>
          <p:cNvPr id="6" name="Rounded Rectangle 5"/>
          <p:cNvSpPr/>
          <p:nvPr/>
        </p:nvSpPr>
        <p:spPr>
          <a:xfrm>
            <a:off x="6590773" y="3400023"/>
            <a:ext cx="2009105" cy="204774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Encapsulation</a:t>
            </a:r>
            <a:endParaRPr lang="en-GB"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1970346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endParaRPr lang="en-US" b="1" i="1" dirty="0" smtClean="0"/>
          </a:p>
        </p:txBody>
      </p:sp>
    </p:spTree>
    <p:extLst>
      <p:ext uri="{BB962C8B-B14F-4D97-AF65-F5344CB8AC3E}">
        <p14:creationId xmlns:p14="http://schemas.microsoft.com/office/powerpoint/2010/main" val="21330085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What is an access modifier?</a:t>
            </a:r>
          </a:p>
        </p:txBody>
      </p:sp>
    </p:spTree>
    <p:extLst>
      <p:ext uri="{BB962C8B-B14F-4D97-AF65-F5344CB8AC3E}">
        <p14:creationId xmlns:p14="http://schemas.microsoft.com/office/powerpoint/2010/main" val="23931363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What is an access modifier?</a:t>
            </a:r>
          </a:p>
          <a:p>
            <a:pPr lvl="1"/>
            <a:r>
              <a:rPr lang="en-US" b="1" i="1" dirty="0" smtClean="0"/>
              <a:t>An access modifier is a keyword used to specify the accessibility of a member or a type.</a:t>
            </a:r>
          </a:p>
        </p:txBody>
      </p:sp>
    </p:spTree>
    <p:extLst>
      <p:ext uri="{BB962C8B-B14F-4D97-AF65-F5344CB8AC3E}">
        <p14:creationId xmlns:p14="http://schemas.microsoft.com/office/powerpoint/2010/main" val="8584850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endParaRPr lang="en-GB" dirty="0"/>
          </a:p>
        </p:txBody>
      </p:sp>
    </p:spTree>
    <p:extLst>
      <p:ext uri="{BB962C8B-B14F-4D97-AF65-F5344CB8AC3E}">
        <p14:creationId xmlns:p14="http://schemas.microsoft.com/office/powerpoint/2010/main" val="35615177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t>public</a:t>
            </a:r>
          </a:p>
          <a:p>
            <a:pPr lvl="2">
              <a:buFont typeface="Wingdings" panose="05000000000000000000" pitchFamily="2" charset="2"/>
              <a:buChar char="§"/>
            </a:pPr>
            <a:r>
              <a:rPr lang="en-US" b="1" dirty="0" smtClean="0"/>
              <a:t>protected</a:t>
            </a:r>
          </a:p>
          <a:p>
            <a:pPr lvl="2">
              <a:buFont typeface="Wingdings" panose="05000000000000000000" pitchFamily="2" charset="2"/>
              <a:buChar char="§"/>
            </a:pPr>
            <a:r>
              <a:rPr lang="en-US" b="1" dirty="0" smtClean="0"/>
              <a:t>internal</a:t>
            </a:r>
          </a:p>
          <a:p>
            <a:pPr lvl="2">
              <a:buFont typeface="Wingdings" panose="05000000000000000000" pitchFamily="2" charset="2"/>
              <a:buChar char="§"/>
            </a:pPr>
            <a:r>
              <a:rPr lang="en-US" b="1" dirty="0" smtClean="0"/>
              <a:t>private</a:t>
            </a:r>
            <a:endParaRPr lang="en-US" b="1" dirty="0"/>
          </a:p>
          <a:p>
            <a:endParaRPr lang="en-GB" dirty="0"/>
          </a:p>
        </p:txBody>
      </p:sp>
    </p:spTree>
    <p:extLst>
      <p:ext uri="{BB962C8B-B14F-4D97-AF65-F5344CB8AC3E}">
        <p14:creationId xmlns:p14="http://schemas.microsoft.com/office/powerpoint/2010/main" val="38548653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Tree>
    <p:extLst>
      <p:ext uri="{BB962C8B-B14F-4D97-AF65-F5344CB8AC3E}">
        <p14:creationId xmlns:p14="http://schemas.microsoft.com/office/powerpoint/2010/main" val="9774615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
        <p:nvSpPr>
          <p:cNvPr id="4" name="Rectangle 3"/>
          <p:cNvSpPr/>
          <p:nvPr/>
        </p:nvSpPr>
        <p:spPr>
          <a:xfrm>
            <a:off x="1081826" y="2808313"/>
            <a:ext cx="9684912" cy="2585323"/>
          </a:xfrm>
          <a:prstGeom prst="rect">
            <a:avLst/>
          </a:prstGeom>
          <a:noFill/>
        </p:spPr>
        <p:txBody>
          <a:bodyPr wrap="square" lIns="91440" tIns="45720" rIns="91440" bIns="45720">
            <a:spAutoFit/>
          </a:bodyPr>
          <a:lstStyle/>
          <a:p>
            <a:pPr algn="ctr"/>
            <a:r>
              <a:rPr lang="en-US" sz="5400" b="1" dirty="0" smtClean="0">
                <a:ln w="22225">
                  <a:solidFill>
                    <a:schemeClr val="accent2"/>
                  </a:solidFill>
                  <a:prstDash val="solid"/>
                </a:ln>
                <a:solidFill>
                  <a:schemeClr val="accent2">
                    <a:lumMod val="40000"/>
                    <a:lumOff val="60000"/>
                  </a:schemeClr>
                </a:solidFill>
              </a:rPr>
              <a:t>public =&gt; there is no restriction in regards with accessibility</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7571677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Tree>
    <p:extLst>
      <p:ext uri="{BB962C8B-B14F-4D97-AF65-F5344CB8AC3E}">
        <p14:creationId xmlns:p14="http://schemas.microsoft.com/office/powerpoint/2010/main" val="27914806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
        <p:nvSpPr>
          <p:cNvPr id="4" name="Rectangle 3"/>
          <p:cNvSpPr/>
          <p:nvPr/>
        </p:nvSpPr>
        <p:spPr>
          <a:xfrm>
            <a:off x="169739" y="2645363"/>
            <a:ext cx="12316192" cy="2585323"/>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protected =&gt; access is limited to </a:t>
            </a:r>
          </a:p>
          <a:p>
            <a:pPr algn="ctr"/>
            <a:r>
              <a:rPr lang="en-US" sz="5400" b="1" cap="none" spc="0" dirty="0" smtClean="0">
                <a:ln w="22225">
                  <a:solidFill>
                    <a:schemeClr val="accent2"/>
                  </a:solidFill>
                  <a:prstDash val="solid"/>
                </a:ln>
                <a:solidFill>
                  <a:schemeClr val="accent2">
                    <a:lumMod val="40000"/>
                    <a:lumOff val="60000"/>
                  </a:schemeClr>
                </a:solidFill>
                <a:effectLst/>
              </a:rPr>
              <a:t>the containing class or types derived </a:t>
            </a:r>
          </a:p>
          <a:p>
            <a:pPr algn="ctr"/>
            <a:r>
              <a:rPr lang="en-US" sz="5400" b="1" dirty="0" smtClean="0">
                <a:ln w="22225">
                  <a:solidFill>
                    <a:schemeClr val="accent2"/>
                  </a:solidFill>
                  <a:prstDash val="solid"/>
                </a:ln>
                <a:solidFill>
                  <a:schemeClr val="accent2">
                    <a:lumMod val="40000"/>
                    <a:lumOff val="60000"/>
                  </a:schemeClr>
                </a:solidFill>
              </a:rPr>
              <a:t>from the containing class</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9088215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Tree>
    <p:extLst>
      <p:ext uri="{BB962C8B-B14F-4D97-AF65-F5344CB8AC3E}">
        <p14:creationId xmlns:p14="http://schemas.microsoft.com/office/powerpoint/2010/main" val="5394214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t>internal</a:t>
            </a:r>
          </a:p>
          <a:p>
            <a:pPr lvl="2">
              <a:buFont typeface="Wingdings" panose="05000000000000000000" pitchFamily="2" charset="2"/>
              <a:buChar char="§"/>
            </a:pPr>
            <a:r>
              <a:rPr lang="en-US" b="1" dirty="0" smtClean="0">
                <a:solidFill>
                  <a:schemeClr val="bg1">
                    <a:lumMod val="85000"/>
                  </a:schemeClr>
                </a:solidFill>
              </a:rPr>
              <a:t>private</a:t>
            </a:r>
            <a:endParaRPr lang="en-US" b="1" dirty="0">
              <a:solidFill>
                <a:schemeClr val="bg1">
                  <a:lumMod val="85000"/>
                </a:schemeClr>
              </a:solidFill>
            </a:endParaRPr>
          </a:p>
          <a:p>
            <a:endParaRPr lang="en-GB" dirty="0"/>
          </a:p>
        </p:txBody>
      </p:sp>
      <p:sp>
        <p:nvSpPr>
          <p:cNvPr id="4" name="Rectangle 3"/>
          <p:cNvSpPr/>
          <p:nvPr/>
        </p:nvSpPr>
        <p:spPr>
          <a:xfrm>
            <a:off x="780365" y="4287036"/>
            <a:ext cx="10129696" cy="1754326"/>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internal =&gt; access is limited to</a:t>
            </a:r>
          </a:p>
          <a:p>
            <a:pPr algn="ctr"/>
            <a:r>
              <a:rPr lang="en-US" sz="5400" b="1" dirty="0" smtClean="0">
                <a:ln w="22225">
                  <a:solidFill>
                    <a:schemeClr val="accent2"/>
                  </a:solidFill>
                  <a:prstDash val="solid"/>
                </a:ln>
                <a:solidFill>
                  <a:schemeClr val="accent2">
                    <a:lumMod val="40000"/>
                    <a:lumOff val="60000"/>
                  </a:schemeClr>
                </a:solidFill>
              </a:rPr>
              <a:t>the current assembly</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391007413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t>private</a:t>
            </a:r>
            <a:endParaRPr lang="en-US" b="1" dirty="0"/>
          </a:p>
          <a:p>
            <a:endParaRPr lang="en-GB" dirty="0"/>
          </a:p>
        </p:txBody>
      </p:sp>
    </p:spTree>
    <p:extLst>
      <p:ext uri="{BB962C8B-B14F-4D97-AF65-F5344CB8AC3E}">
        <p14:creationId xmlns:p14="http://schemas.microsoft.com/office/powerpoint/2010/main" val="9907581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a:t>How many access modifiers exists in C</a:t>
            </a:r>
            <a:r>
              <a:rPr lang="en-US" dirty="0" smtClean="0"/>
              <a:t>#?</a:t>
            </a:r>
          </a:p>
          <a:p>
            <a:pPr lvl="1"/>
            <a:r>
              <a:rPr lang="en-US" dirty="0" smtClean="0"/>
              <a:t>In C# we have four access modifiers</a:t>
            </a:r>
          </a:p>
          <a:p>
            <a:pPr lvl="2">
              <a:buFont typeface="Wingdings" panose="05000000000000000000" pitchFamily="2" charset="2"/>
              <a:buChar char="§"/>
            </a:pPr>
            <a:r>
              <a:rPr lang="en-US" b="1" dirty="0" smtClean="0">
                <a:solidFill>
                  <a:schemeClr val="bg1">
                    <a:lumMod val="85000"/>
                  </a:schemeClr>
                </a:solidFill>
              </a:rPr>
              <a:t>public</a:t>
            </a:r>
          </a:p>
          <a:p>
            <a:pPr lvl="2">
              <a:buFont typeface="Wingdings" panose="05000000000000000000" pitchFamily="2" charset="2"/>
              <a:buChar char="§"/>
            </a:pPr>
            <a:r>
              <a:rPr lang="en-US" b="1" dirty="0" smtClean="0">
                <a:solidFill>
                  <a:schemeClr val="bg1">
                    <a:lumMod val="85000"/>
                  </a:schemeClr>
                </a:solidFill>
              </a:rPr>
              <a:t>protected</a:t>
            </a:r>
          </a:p>
          <a:p>
            <a:pPr lvl="2">
              <a:buFont typeface="Wingdings" panose="05000000000000000000" pitchFamily="2" charset="2"/>
              <a:buChar char="§"/>
            </a:pPr>
            <a:r>
              <a:rPr lang="en-US" b="1" dirty="0" smtClean="0">
                <a:solidFill>
                  <a:schemeClr val="bg1">
                    <a:lumMod val="85000"/>
                  </a:schemeClr>
                </a:solidFill>
              </a:rPr>
              <a:t>internal</a:t>
            </a:r>
          </a:p>
          <a:p>
            <a:pPr lvl="2">
              <a:buFont typeface="Wingdings" panose="05000000000000000000" pitchFamily="2" charset="2"/>
              <a:buChar char="§"/>
            </a:pPr>
            <a:r>
              <a:rPr lang="en-US" b="1" dirty="0" smtClean="0"/>
              <a:t>private</a:t>
            </a:r>
            <a:endParaRPr lang="en-US" b="1" dirty="0"/>
          </a:p>
          <a:p>
            <a:endParaRPr lang="en-GB" dirty="0"/>
          </a:p>
        </p:txBody>
      </p:sp>
      <p:sp>
        <p:nvSpPr>
          <p:cNvPr id="4" name="Rectangle 3"/>
          <p:cNvSpPr/>
          <p:nvPr/>
        </p:nvSpPr>
        <p:spPr>
          <a:xfrm>
            <a:off x="1156996" y="2967335"/>
            <a:ext cx="9878025" cy="1754326"/>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private =&gt; access is limited to</a:t>
            </a:r>
          </a:p>
          <a:p>
            <a:pPr algn="ctr"/>
            <a:r>
              <a:rPr lang="en-US" sz="5400" b="1" dirty="0" smtClean="0">
                <a:ln w="22225">
                  <a:solidFill>
                    <a:schemeClr val="accent2"/>
                  </a:solidFill>
                  <a:prstDash val="solid"/>
                </a:ln>
                <a:solidFill>
                  <a:schemeClr val="accent2">
                    <a:lumMod val="40000"/>
                    <a:lumOff val="60000"/>
                  </a:schemeClr>
                </a:solidFill>
              </a:rPr>
              <a:t>the containing type</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7106417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endParaRPr lang="en-US" b="1" dirty="0"/>
          </a:p>
          <a:p>
            <a:endParaRPr lang="en-GB" dirty="0"/>
          </a:p>
        </p:txBody>
      </p:sp>
    </p:spTree>
    <p:extLst>
      <p:ext uri="{BB962C8B-B14F-4D97-AF65-F5344CB8AC3E}">
        <p14:creationId xmlns:p14="http://schemas.microsoft.com/office/powerpoint/2010/main" val="33117284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t>sealed</a:t>
            </a:r>
          </a:p>
          <a:p>
            <a:pPr lvl="1">
              <a:buFont typeface="Wingdings" panose="05000000000000000000" pitchFamily="2" charset="2"/>
              <a:buChar char="§"/>
            </a:pPr>
            <a:r>
              <a:rPr lang="en-US" b="1" dirty="0" smtClean="0"/>
              <a:t>virtual</a:t>
            </a:r>
            <a:endParaRPr lang="en-US" b="1" dirty="0"/>
          </a:p>
          <a:p>
            <a:endParaRPr lang="en-GB" dirty="0"/>
          </a:p>
        </p:txBody>
      </p:sp>
    </p:spTree>
    <p:extLst>
      <p:ext uri="{BB962C8B-B14F-4D97-AF65-F5344CB8AC3E}">
        <p14:creationId xmlns:p14="http://schemas.microsoft.com/office/powerpoint/2010/main" val="372904477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spTree>
    <p:extLst>
      <p:ext uri="{BB962C8B-B14F-4D97-AF65-F5344CB8AC3E}">
        <p14:creationId xmlns:p14="http://schemas.microsoft.com/office/powerpoint/2010/main" val="5970542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148336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endParaRPr lang="en-GB"/>
                    </a:p>
                  </a:txBody>
                  <a:tcPr/>
                </a:tc>
                <a:tc>
                  <a:txBody>
                    <a:bodyPr/>
                    <a:lstStyle/>
                    <a:p>
                      <a:endParaRPr lang="en-GB"/>
                    </a:p>
                  </a:txBody>
                  <a:tcPr/>
                </a:tc>
              </a:tr>
              <a:tr h="370840">
                <a:tc>
                  <a:txBody>
                    <a:bodyPr/>
                    <a:lstStyle/>
                    <a:p>
                      <a:endParaRPr lang="en-GB"/>
                    </a:p>
                  </a:txBody>
                  <a:tcPr/>
                </a:tc>
                <a:tc>
                  <a:txBody>
                    <a:bodyPr/>
                    <a:lstStyle/>
                    <a:p>
                      <a:endParaRPr lang="en-GB"/>
                    </a:p>
                  </a:txBody>
                  <a:tcPr/>
                </a:tc>
              </a:tr>
              <a:tr h="370840">
                <a:tc>
                  <a:txBody>
                    <a:bodyPr/>
                    <a:lstStyle/>
                    <a:p>
                      <a:endParaRPr lang="en-GB"/>
                    </a:p>
                  </a:txBody>
                  <a:tcPr/>
                </a:tc>
                <a:tc>
                  <a:txBody>
                    <a:bodyPr/>
                    <a:lstStyle/>
                    <a:p>
                      <a:endParaRPr lang="en-GB" dirty="0"/>
                    </a:p>
                  </a:txBody>
                  <a:tcPr/>
                </a:tc>
              </a:tr>
            </a:tbl>
          </a:graphicData>
        </a:graphic>
      </p:graphicFrame>
    </p:spTree>
    <p:extLst>
      <p:ext uri="{BB962C8B-B14F-4D97-AF65-F5344CB8AC3E}">
        <p14:creationId xmlns:p14="http://schemas.microsoft.com/office/powerpoint/2010/main" val="40184156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17526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endParaRPr lang="en-GB"/>
                    </a:p>
                  </a:txBody>
                  <a:tcPr/>
                </a:tc>
              </a:tr>
              <a:tr h="370840">
                <a:tc>
                  <a:txBody>
                    <a:bodyPr/>
                    <a:lstStyle/>
                    <a:p>
                      <a:endParaRPr lang="en-GB" dirty="0"/>
                    </a:p>
                  </a:txBody>
                  <a:tcPr/>
                </a:tc>
                <a:tc>
                  <a:txBody>
                    <a:bodyPr/>
                    <a:lstStyle/>
                    <a:p>
                      <a:endParaRPr lang="en-GB"/>
                    </a:p>
                  </a:txBody>
                  <a:tcPr/>
                </a:tc>
              </a:tr>
              <a:tr h="370840">
                <a:tc>
                  <a:txBody>
                    <a:bodyPr/>
                    <a:lstStyle/>
                    <a:p>
                      <a:endParaRPr lang="en-GB"/>
                    </a:p>
                  </a:txBody>
                  <a:tcPr/>
                </a:tc>
                <a:tc>
                  <a:txBody>
                    <a:bodyPr/>
                    <a:lstStyle/>
                    <a:p>
                      <a:endParaRPr lang="en-GB" dirty="0"/>
                    </a:p>
                  </a:txBody>
                  <a:tcPr/>
                </a:tc>
              </a:tr>
            </a:tbl>
          </a:graphicData>
        </a:graphic>
      </p:graphicFrame>
    </p:spTree>
    <p:extLst>
      <p:ext uri="{BB962C8B-B14F-4D97-AF65-F5344CB8AC3E}">
        <p14:creationId xmlns:p14="http://schemas.microsoft.com/office/powerpoint/2010/main" val="28968162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17526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at the declaration</a:t>
                      </a:r>
                      <a:endParaRPr lang="en-GB" b="1" dirty="0"/>
                    </a:p>
                  </a:txBody>
                  <a:tcPr/>
                </a:tc>
              </a:tr>
              <a:tr h="370840">
                <a:tc>
                  <a:txBody>
                    <a:bodyPr/>
                    <a:lstStyle/>
                    <a:p>
                      <a:endParaRPr lang="en-GB" dirty="0"/>
                    </a:p>
                  </a:txBody>
                  <a:tcPr/>
                </a:tc>
                <a:tc>
                  <a:txBody>
                    <a:bodyPr/>
                    <a:lstStyle/>
                    <a:p>
                      <a:endParaRPr lang="en-GB"/>
                    </a:p>
                  </a:txBody>
                  <a:tcPr/>
                </a:tc>
              </a:tr>
              <a:tr h="370840">
                <a:tc>
                  <a:txBody>
                    <a:bodyPr/>
                    <a:lstStyle/>
                    <a:p>
                      <a:endParaRPr lang="en-GB"/>
                    </a:p>
                  </a:txBody>
                  <a:tcPr/>
                </a:tc>
                <a:tc>
                  <a:txBody>
                    <a:bodyPr/>
                    <a:lstStyle/>
                    <a:p>
                      <a:endParaRPr lang="en-GB" dirty="0"/>
                    </a:p>
                  </a:txBody>
                  <a:tcPr/>
                </a:tc>
              </a:tr>
            </a:tbl>
          </a:graphicData>
        </a:graphic>
      </p:graphicFrame>
    </p:spTree>
    <p:extLst>
      <p:ext uri="{BB962C8B-B14F-4D97-AF65-F5344CB8AC3E}">
        <p14:creationId xmlns:p14="http://schemas.microsoft.com/office/powerpoint/2010/main" val="402265962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17526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at the declaration</a:t>
                      </a:r>
                      <a:endParaRPr lang="en-GB" b="1" dirty="0"/>
                    </a:p>
                  </a:txBody>
                  <a:tcPr/>
                </a:tc>
              </a:tr>
              <a:tr h="370840">
                <a:tc>
                  <a:txBody>
                    <a:bodyPr/>
                    <a:lstStyle/>
                    <a:p>
                      <a:r>
                        <a:rPr lang="en-US" dirty="0" smtClean="0"/>
                        <a:t>Can be used only by fields</a:t>
                      </a:r>
                      <a:endParaRPr lang="en-GB" dirty="0"/>
                    </a:p>
                  </a:txBody>
                  <a:tcPr/>
                </a:tc>
                <a:tc>
                  <a:txBody>
                    <a:bodyPr/>
                    <a:lstStyle/>
                    <a:p>
                      <a:endParaRPr lang="en-GB"/>
                    </a:p>
                  </a:txBody>
                  <a:tcPr/>
                </a:tc>
              </a:tr>
              <a:tr h="370840">
                <a:tc>
                  <a:txBody>
                    <a:bodyPr/>
                    <a:lstStyle/>
                    <a:p>
                      <a:endParaRPr lang="en-GB"/>
                    </a:p>
                  </a:txBody>
                  <a:tcPr/>
                </a:tc>
                <a:tc>
                  <a:txBody>
                    <a:bodyPr/>
                    <a:lstStyle/>
                    <a:p>
                      <a:endParaRPr lang="en-GB" dirty="0"/>
                    </a:p>
                  </a:txBody>
                  <a:tcPr/>
                </a:tc>
              </a:tr>
            </a:tbl>
          </a:graphicData>
        </a:graphic>
      </p:graphicFrame>
    </p:spTree>
    <p:extLst>
      <p:ext uri="{BB962C8B-B14F-4D97-AF65-F5344CB8AC3E}">
        <p14:creationId xmlns:p14="http://schemas.microsoft.com/office/powerpoint/2010/main" val="27199478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17526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at the declaration</a:t>
                      </a:r>
                      <a:endParaRPr lang="en-GB" b="1" dirty="0"/>
                    </a:p>
                  </a:txBody>
                  <a:tcPr/>
                </a:tc>
              </a:tr>
              <a:tr h="370840">
                <a:tc>
                  <a:txBody>
                    <a:bodyPr/>
                    <a:lstStyle/>
                    <a:p>
                      <a:r>
                        <a:rPr lang="en-US" dirty="0" smtClean="0"/>
                        <a:t>Can be used only by fields</a:t>
                      </a:r>
                      <a:endParaRPr lang="en-GB" dirty="0"/>
                    </a:p>
                  </a:txBody>
                  <a:tcPr/>
                </a:tc>
                <a:tc>
                  <a:txBody>
                    <a:bodyPr/>
                    <a:lstStyle/>
                    <a:p>
                      <a:r>
                        <a:rPr lang="en-US" dirty="0" smtClean="0"/>
                        <a:t>Can be used only by fields</a:t>
                      </a:r>
                      <a:endParaRPr lang="en-GB" dirty="0"/>
                    </a:p>
                  </a:txBody>
                  <a:tcPr/>
                </a:tc>
              </a:tr>
              <a:tr h="370840">
                <a:tc>
                  <a:txBody>
                    <a:bodyPr/>
                    <a:lstStyle/>
                    <a:p>
                      <a:endParaRPr lang="en-GB" dirty="0"/>
                    </a:p>
                  </a:txBody>
                  <a:tcPr/>
                </a:tc>
                <a:tc>
                  <a:txBody>
                    <a:bodyPr/>
                    <a:lstStyle/>
                    <a:p>
                      <a:endParaRPr lang="en-GB" dirty="0"/>
                    </a:p>
                  </a:txBody>
                  <a:tcPr/>
                </a:tc>
              </a:tr>
            </a:tbl>
          </a:graphicData>
        </a:graphic>
      </p:graphicFrame>
    </p:spTree>
    <p:extLst>
      <p:ext uri="{BB962C8B-B14F-4D97-AF65-F5344CB8AC3E}">
        <p14:creationId xmlns:p14="http://schemas.microsoft.com/office/powerpoint/2010/main" val="11930917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202184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at the declaration</a:t>
                      </a:r>
                      <a:endParaRPr lang="en-GB" b="1" dirty="0"/>
                    </a:p>
                  </a:txBody>
                  <a:tcPr/>
                </a:tc>
              </a:tr>
              <a:tr h="370840">
                <a:tc>
                  <a:txBody>
                    <a:bodyPr/>
                    <a:lstStyle/>
                    <a:p>
                      <a:r>
                        <a:rPr lang="en-US" dirty="0" smtClean="0"/>
                        <a:t>Can be used only by fields</a:t>
                      </a:r>
                      <a:endParaRPr lang="en-GB" dirty="0"/>
                    </a:p>
                  </a:txBody>
                  <a:tcPr/>
                </a:tc>
                <a:tc>
                  <a:txBody>
                    <a:bodyPr/>
                    <a:lstStyle/>
                    <a:p>
                      <a:r>
                        <a:rPr lang="en-US" dirty="0" smtClean="0"/>
                        <a:t>Can be used only by fields</a:t>
                      </a:r>
                      <a:endParaRPr lang="en-GB" dirty="0"/>
                    </a:p>
                  </a:txBody>
                  <a:tcPr/>
                </a:tc>
              </a:tr>
              <a:tr h="370840">
                <a:tc>
                  <a:txBody>
                    <a:bodyPr/>
                    <a:lstStyle/>
                    <a:p>
                      <a:r>
                        <a:rPr lang="en-US" dirty="0" smtClean="0"/>
                        <a:t>If</a:t>
                      </a:r>
                      <a:r>
                        <a:rPr lang="en-US" baseline="0" dirty="0" smtClean="0"/>
                        <a:t> is initialized via constructor can have different values</a:t>
                      </a:r>
                      <a:endParaRPr lang="en-GB" dirty="0"/>
                    </a:p>
                  </a:txBody>
                  <a:tcPr/>
                </a:tc>
                <a:tc>
                  <a:txBody>
                    <a:bodyPr/>
                    <a:lstStyle/>
                    <a:p>
                      <a:endParaRPr lang="en-GB" dirty="0"/>
                    </a:p>
                  </a:txBody>
                  <a:tcPr/>
                </a:tc>
              </a:tr>
            </a:tbl>
          </a:graphicData>
        </a:graphic>
      </p:graphicFrame>
    </p:spTree>
    <p:extLst>
      <p:ext uri="{BB962C8B-B14F-4D97-AF65-F5344CB8AC3E}">
        <p14:creationId xmlns:p14="http://schemas.microsoft.com/office/powerpoint/2010/main" val="1912936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202184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at the declaration</a:t>
                      </a:r>
                      <a:endParaRPr lang="en-GB" b="1" dirty="0"/>
                    </a:p>
                  </a:txBody>
                  <a:tcPr/>
                </a:tc>
              </a:tr>
              <a:tr h="370840">
                <a:tc>
                  <a:txBody>
                    <a:bodyPr/>
                    <a:lstStyle/>
                    <a:p>
                      <a:r>
                        <a:rPr lang="en-US" dirty="0" smtClean="0"/>
                        <a:t>Can be used only by fields</a:t>
                      </a:r>
                      <a:endParaRPr lang="en-GB" dirty="0"/>
                    </a:p>
                  </a:txBody>
                  <a:tcPr/>
                </a:tc>
                <a:tc>
                  <a:txBody>
                    <a:bodyPr/>
                    <a:lstStyle/>
                    <a:p>
                      <a:r>
                        <a:rPr lang="en-US" dirty="0" smtClean="0"/>
                        <a:t>Can be used only by fields</a:t>
                      </a:r>
                      <a:endParaRPr lang="en-GB" dirty="0"/>
                    </a:p>
                  </a:txBody>
                  <a:tcPr/>
                </a:tc>
              </a:tr>
              <a:tr h="370840">
                <a:tc>
                  <a:txBody>
                    <a:bodyPr/>
                    <a:lstStyle/>
                    <a:p>
                      <a:r>
                        <a:rPr lang="en-US" dirty="0" smtClean="0"/>
                        <a:t>If</a:t>
                      </a:r>
                      <a:r>
                        <a:rPr lang="en-US" baseline="0" dirty="0" smtClean="0"/>
                        <a:t> is initialized via constructor can have different values</a:t>
                      </a:r>
                      <a:endParaRPr lang="en-GB" dirty="0"/>
                    </a:p>
                  </a:txBody>
                  <a:tcPr/>
                </a:tc>
                <a:tc>
                  <a:txBody>
                    <a:bodyPr/>
                    <a:lstStyle/>
                    <a:p>
                      <a:r>
                        <a:rPr lang="en-US" dirty="0" smtClean="0"/>
                        <a:t>Is a compile-time constant</a:t>
                      </a:r>
                      <a:endParaRPr lang="en-GB" dirty="0"/>
                    </a:p>
                  </a:txBody>
                  <a:tcPr/>
                </a:tc>
              </a:tr>
            </a:tbl>
          </a:graphicData>
        </a:graphic>
      </p:graphicFrame>
    </p:spTree>
    <p:extLst>
      <p:ext uri="{BB962C8B-B14F-4D97-AF65-F5344CB8AC3E}">
        <p14:creationId xmlns:p14="http://schemas.microsoft.com/office/powerpoint/2010/main" val="82593894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t>readonly</a:t>
            </a:r>
            <a:r>
              <a:rPr lang="en-US" b="1" dirty="0" smtClean="0"/>
              <a:t> vs </a:t>
            </a:r>
            <a:r>
              <a:rPr lang="en-US" b="1" dirty="0" err="1" smtClean="0"/>
              <a:t>const</a:t>
            </a:r>
            <a:endParaRPr lang="en-US" b="1" dirty="0" smtClean="0"/>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graphicFrame>
        <p:nvGraphicFramePr>
          <p:cNvPr id="4" name="Table 3"/>
          <p:cNvGraphicFramePr>
            <a:graphicFrameLocks noGrp="1"/>
          </p:cNvGraphicFramePr>
          <p:nvPr>
            <p:extLst/>
          </p:nvPr>
        </p:nvGraphicFramePr>
        <p:xfrm>
          <a:off x="1684271" y="3012105"/>
          <a:ext cx="8128000" cy="202184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err="1" smtClean="0"/>
                        <a:t>readonly</a:t>
                      </a:r>
                      <a:endParaRPr lang="en-GB" dirty="0"/>
                    </a:p>
                  </a:txBody>
                  <a:tcPr/>
                </a:tc>
                <a:tc>
                  <a:txBody>
                    <a:bodyPr/>
                    <a:lstStyle/>
                    <a:p>
                      <a:r>
                        <a:rPr lang="en-US" dirty="0" err="1" smtClean="0"/>
                        <a:t>const</a:t>
                      </a:r>
                      <a:endParaRPr lang="en-GB" dirty="0"/>
                    </a:p>
                  </a:txBody>
                  <a:tcPr/>
                </a:tc>
              </a:tr>
              <a:tr h="370840">
                <a:tc>
                  <a:txBody>
                    <a:bodyPr/>
                    <a:lstStyle/>
                    <a:p>
                      <a:r>
                        <a:rPr lang="en-US" dirty="0" smtClean="0"/>
                        <a:t>Can be initialized: at declaration or in a constructor </a:t>
                      </a:r>
                      <a:endParaRPr lang="en-GB" dirty="0"/>
                    </a:p>
                  </a:txBody>
                  <a:tcPr/>
                </a:tc>
                <a:tc>
                  <a:txBody>
                    <a:bodyPr/>
                    <a:lstStyle/>
                    <a:p>
                      <a:r>
                        <a:rPr lang="en-US" dirty="0" smtClean="0"/>
                        <a:t>Can be initialized </a:t>
                      </a:r>
                      <a:r>
                        <a:rPr lang="en-US" b="1" dirty="0" smtClean="0"/>
                        <a:t>only a the declaration</a:t>
                      </a:r>
                      <a:endParaRPr lang="en-GB" b="1" dirty="0"/>
                    </a:p>
                  </a:txBody>
                  <a:tcPr/>
                </a:tc>
              </a:tr>
              <a:tr h="370840">
                <a:tc>
                  <a:txBody>
                    <a:bodyPr/>
                    <a:lstStyle/>
                    <a:p>
                      <a:r>
                        <a:rPr lang="en-US" dirty="0" smtClean="0"/>
                        <a:t>Can be used only by fields</a:t>
                      </a:r>
                      <a:endParaRPr lang="en-GB" dirty="0"/>
                    </a:p>
                  </a:txBody>
                  <a:tcPr/>
                </a:tc>
                <a:tc>
                  <a:txBody>
                    <a:bodyPr/>
                    <a:lstStyle/>
                    <a:p>
                      <a:r>
                        <a:rPr lang="en-US" dirty="0" smtClean="0"/>
                        <a:t>Can be used only by fields</a:t>
                      </a:r>
                      <a:endParaRPr lang="en-GB" dirty="0"/>
                    </a:p>
                  </a:txBody>
                  <a:tcPr/>
                </a:tc>
              </a:tr>
              <a:tr h="370840">
                <a:tc>
                  <a:txBody>
                    <a:bodyPr/>
                    <a:lstStyle/>
                    <a:p>
                      <a:r>
                        <a:rPr lang="en-US" dirty="0" smtClean="0"/>
                        <a:t>If</a:t>
                      </a:r>
                      <a:r>
                        <a:rPr lang="en-US" baseline="0" dirty="0" smtClean="0"/>
                        <a:t> is initialized via constructor can have different values</a:t>
                      </a:r>
                      <a:endParaRPr lang="en-GB" dirty="0"/>
                    </a:p>
                  </a:txBody>
                  <a:tcPr/>
                </a:tc>
                <a:tc>
                  <a:txBody>
                    <a:bodyPr/>
                    <a:lstStyle/>
                    <a:p>
                      <a:r>
                        <a:rPr lang="en-US" dirty="0" smtClean="0"/>
                        <a:t>Is a compile-time constant</a:t>
                      </a:r>
                      <a:endParaRPr lang="en-GB" dirty="0"/>
                    </a:p>
                  </a:txBody>
                  <a:tcPr/>
                </a:tc>
              </a:tr>
            </a:tbl>
          </a:graphicData>
        </a:graphic>
      </p:graphicFrame>
      <p:pic>
        <p:nvPicPr>
          <p:cNvPr id="5" name="Picture 4"/>
          <p:cNvPicPr>
            <a:picLocks noChangeAspect="1"/>
          </p:cNvPicPr>
          <p:nvPr/>
        </p:nvPicPr>
        <p:blipFill>
          <a:blip r:embed="rId2"/>
          <a:stretch>
            <a:fillRect/>
          </a:stretch>
        </p:blipFill>
        <p:spPr>
          <a:xfrm>
            <a:off x="2449400" y="2534246"/>
            <a:ext cx="6157924" cy="3133457"/>
          </a:xfrm>
          <a:prstGeom prst="rect">
            <a:avLst/>
          </a:prstGeom>
        </p:spPr>
      </p:pic>
    </p:spTree>
    <p:extLst>
      <p:ext uri="{BB962C8B-B14F-4D97-AF65-F5344CB8AC3E}">
        <p14:creationId xmlns:p14="http://schemas.microsoft.com/office/powerpoint/2010/main" val="15622202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spTree>
    <p:extLst>
      <p:ext uri="{BB962C8B-B14F-4D97-AF65-F5344CB8AC3E}">
        <p14:creationId xmlns:p14="http://schemas.microsoft.com/office/powerpoint/2010/main" val="5702046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sp>
        <p:nvSpPr>
          <p:cNvPr id="4" name="Rectangle 3"/>
          <p:cNvSpPr/>
          <p:nvPr/>
        </p:nvSpPr>
        <p:spPr>
          <a:xfrm>
            <a:off x="1557743" y="2967335"/>
            <a:ext cx="9076523" cy="1754326"/>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Can be used for classes and</a:t>
            </a:r>
          </a:p>
          <a:p>
            <a:pPr algn="ctr"/>
            <a:r>
              <a:rPr lang="en-US" sz="5400" b="1" dirty="0" smtClean="0">
                <a:ln w="22225">
                  <a:solidFill>
                    <a:schemeClr val="accent2"/>
                  </a:solidFill>
                  <a:prstDash val="solid"/>
                </a:ln>
                <a:solidFill>
                  <a:schemeClr val="accent2">
                    <a:lumMod val="40000"/>
                    <a:lumOff val="60000"/>
                  </a:schemeClr>
                </a:solidFill>
              </a:rPr>
              <a:t>methods</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6268754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sp>
        <p:nvSpPr>
          <p:cNvPr id="5" name="Rectangle 4"/>
          <p:cNvSpPr/>
          <p:nvPr/>
        </p:nvSpPr>
        <p:spPr>
          <a:xfrm>
            <a:off x="-244137" y="2160589"/>
            <a:ext cx="12628778" cy="3416320"/>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Classes =&gt; prevents other classes</a:t>
            </a:r>
          </a:p>
          <a:p>
            <a:pPr algn="ctr"/>
            <a:r>
              <a:rPr lang="en-US" sz="5400" b="1" dirty="0" smtClean="0">
                <a:ln w="22225">
                  <a:solidFill>
                    <a:schemeClr val="accent2"/>
                  </a:solidFill>
                  <a:prstDash val="solid"/>
                </a:ln>
                <a:solidFill>
                  <a:schemeClr val="accent2">
                    <a:lumMod val="40000"/>
                    <a:lumOff val="60000"/>
                  </a:schemeClr>
                </a:solidFill>
              </a:rPr>
              <a:t>to </a:t>
            </a:r>
            <a:r>
              <a:rPr lang="en-US" sz="5400" b="1" dirty="0">
                <a:ln w="22225">
                  <a:solidFill>
                    <a:schemeClr val="accent2"/>
                  </a:solidFill>
                  <a:prstDash val="solid"/>
                </a:ln>
                <a:solidFill>
                  <a:schemeClr val="accent2">
                    <a:lumMod val="40000"/>
                    <a:lumOff val="60000"/>
                  </a:schemeClr>
                </a:solidFill>
              </a:rPr>
              <a:t>i</a:t>
            </a:r>
            <a:r>
              <a:rPr lang="en-US" sz="5400" b="1" dirty="0" smtClean="0">
                <a:ln w="22225">
                  <a:solidFill>
                    <a:schemeClr val="accent2"/>
                  </a:solidFill>
                  <a:prstDash val="solid"/>
                </a:ln>
                <a:solidFill>
                  <a:schemeClr val="accent2">
                    <a:lumMod val="40000"/>
                    <a:lumOff val="60000"/>
                  </a:schemeClr>
                </a:solidFill>
              </a:rPr>
              <a:t>nherit from it.</a:t>
            </a:r>
          </a:p>
          <a:p>
            <a:pPr algn="ctr"/>
            <a:r>
              <a:rPr lang="en-US" sz="5400" b="1" cap="none" spc="0" dirty="0" smtClean="0">
                <a:ln w="22225">
                  <a:solidFill>
                    <a:schemeClr val="accent2"/>
                  </a:solidFill>
                  <a:prstDash val="solid"/>
                </a:ln>
                <a:solidFill>
                  <a:schemeClr val="accent2">
                    <a:lumMod val="40000"/>
                    <a:lumOff val="60000"/>
                  </a:schemeClr>
                </a:solidFill>
                <a:effectLst/>
              </a:rPr>
              <a:t>Methods =&gt; prevents from overriding</a:t>
            </a:r>
            <a:endParaRPr lang="en-US" sz="5400" b="1" dirty="0">
              <a:ln w="22225">
                <a:solidFill>
                  <a:schemeClr val="accent2"/>
                </a:solidFill>
                <a:prstDash val="solid"/>
              </a:ln>
              <a:solidFill>
                <a:schemeClr val="accent2">
                  <a:lumMod val="40000"/>
                  <a:lumOff val="60000"/>
                </a:schemeClr>
              </a:solidFill>
            </a:endParaRPr>
          </a:p>
          <a:p>
            <a:pPr algn="ctr"/>
            <a:r>
              <a:rPr lang="en-US" sz="5400" b="1" dirty="0">
                <a:ln w="22225">
                  <a:solidFill>
                    <a:schemeClr val="accent2"/>
                  </a:solidFill>
                  <a:prstDash val="solid"/>
                </a:ln>
                <a:solidFill>
                  <a:schemeClr val="accent2">
                    <a:lumMod val="40000"/>
                    <a:lumOff val="60000"/>
                  </a:schemeClr>
                </a:solidFill>
              </a:rPr>
              <a:t>v</a:t>
            </a:r>
            <a:r>
              <a:rPr lang="en-US" sz="5400" b="1" cap="none" spc="0" dirty="0" smtClean="0">
                <a:ln w="22225">
                  <a:solidFill>
                    <a:schemeClr val="accent2"/>
                  </a:solidFill>
                  <a:prstDash val="solid"/>
                </a:ln>
                <a:solidFill>
                  <a:schemeClr val="accent2">
                    <a:lumMod val="40000"/>
                    <a:lumOff val="60000"/>
                  </a:schemeClr>
                </a:solidFill>
                <a:effectLst/>
              </a:rPr>
              <a:t>irtual methods.</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26593804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t>sealed</a:t>
            </a:r>
          </a:p>
          <a:p>
            <a:pPr lvl="1">
              <a:buFont typeface="Wingdings" panose="05000000000000000000" pitchFamily="2" charset="2"/>
              <a:buChar char="§"/>
            </a:pPr>
            <a:r>
              <a:rPr lang="en-US" b="1" dirty="0" smtClean="0">
                <a:solidFill>
                  <a:schemeClr val="bg1">
                    <a:lumMod val="85000"/>
                  </a:schemeClr>
                </a:solidFill>
              </a:rPr>
              <a:t>virtual</a:t>
            </a:r>
            <a:endParaRPr lang="en-US" b="1" dirty="0">
              <a:solidFill>
                <a:schemeClr val="bg1">
                  <a:lumMod val="85000"/>
                </a:schemeClr>
              </a:solidFill>
            </a:endParaRPr>
          </a:p>
          <a:p>
            <a:endParaRPr lang="en-GB" dirty="0"/>
          </a:p>
        </p:txBody>
      </p:sp>
      <p:sp>
        <p:nvSpPr>
          <p:cNvPr id="5" name="Rectangle 4"/>
          <p:cNvSpPr/>
          <p:nvPr/>
        </p:nvSpPr>
        <p:spPr>
          <a:xfrm>
            <a:off x="-244137" y="2160589"/>
            <a:ext cx="12628778" cy="3416320"/>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Classes =&gt; prevents other classes</a:t>
            </a:r>
          </a:p>
          <a:p>
            <a:pPr algn="ctr"/>
            <a:r>
              <a:rPr lang="en-US" sz="5400" b="1" dirty="0" smtClean="0">
                <a:ln w="22225">
                  <a:solidFill>
                    <a:schemeClr val="accent2"/>
                  </a:solidFill>
                  <a:prstDash val="solid"/>
                </a:ln>
                <a:solidFill>
                  <a:schemeClr val="accent2">
                    <a:lumMod val="40000"/>
                    <a:lumOff val="60000"/>
                  </a:schemeClr>
                </a:solidFill>
              </a:rPr>
              <a:t>to </a:t>
            </a:r>
            <a:r>
              <a:rPr lang="en-US" sz="5400" b="1" dirty="0">
                <a:ln w="22225">
                  <a:solidFill>
                    <a:schemeClr val="accent2"/>
                  </a:solidFill>
                  <a:prstDash val="solid"/>
                </a:ln>
                <a:solidFill>
                  <a:schemeClr val="accent2">
                    <a:lumMod val="40000"/>
                    <a:lumOff val="60000"/>
                  </a:schemeClr>
                </a:solidFill>
              </a:rPr>
              <a:t>i</a:t>
            </a:r>
            <a:r>
              <a:rPr lang="en-US" sz="5400" b="1" dirty="0" smtClean="0">
                <a:ln w="22225">
                  <a:solidFill>
                    <a:schemeClr val="accent2"/>
                  </a:solidFill>
                  <a:prstDash val="solid"/>
                </a:ln>
                <a:solidFill>
                  <a:schemeClr val="accent2">
                    <a:lumMod val="40000"/>
                    <a:lumOff val="60000"/>
                  </a:schemeClr>
                </a:solidFill>
              </a:rPr>
              <a:t>nherit from it.</a:t>
            </a:r>
          </a:p>
          <a:p>
            <a:pPr algn="ctr"/>
            <a:r>
              <a:rPr lang="en-US" sz="5400" b="1" cap="none" spc="0" dirty="0" smtClean="0">
                <a:ln w="22225">
                  <a:solidFill>
                    <a:schemeClr val="accent2"/>
                  </a:solidFill>
                  <a:prstDash val="solid"/>
                </a:ln>
                <a:solidFill>
                  <a:schemeClr val="accent2">
                    <a:lumMod val="40000"/>
                    <a:lumOff val="60000"/>
                  </a:schemeClr>
                </a:solidFill>
                <a:effectLst/>
              </a:rPr>
              <a:t>Methods =&gt; prevents from overriding</a:t>
            </a:r>
            <a:endParaRPr lang="en-US" sz="5400" b="1" dirty="0">
              <a:ln w="22225">
                <a:solidFill>
                  <a:schemeClr val="accent2"/>
                </a:solidFill>
                <a:prstDash val="solid"/>
              </a:ln>
              <a:solidFill>
                <a:schemeClr val="accent2">
                  <a:lumMod val="40000"/>
                  <a:lumOff val="60000"/>
                </a:schemeClr>
              </a:solidFill>
            </a:endParaRPr>
          </a:p>
          <a:p>
            <a:pPr algn="ctr"/>
            <a:r>
              <a:rPr lang="en-US" sz="5400" b="1" dirty="0">
                <a:ln w="22225">
                  <a:solidFill>
                    <a:schemeClr val="accent2"/>
                  </a:solidFill>
                  <a:prstDash val="solid"/>
                </a:ln>
                <a:solidFill>
                  <a:schemeClr val="accent2">
                    <a:lumMod val="40000"/>
                    <a:lumOff val="60000"/>
                  </a:schemeClr>
                </a:solidFill>
              </a:rPr>
              <a:t>v</a:t>
            </a:r>
            <a:r>
              <a:rPr lang="en-US" sz="5400" b="1" cap="none" spc="0" dirty="0" smtClean="0">
                <a:ln w="22225">
                  <a:solidFill>
                    <a:schemeClr val="accent2"/>
                  </a:solidFill>
                  <a:prstDash val="solid"/>
                </a:ln>
                <a:solidFill>
                  <a:schemeClr val="accent2">
                    <a:lumMod val="40000"/>
                    <a:lumOff val="60000"/>
                  </a:schemeClr>
                </a:solidFill>
                <a:effectLst/>
              </a:rPr>
              <a:t>irtual methods.</a:t>
            </a:r>
            <a:endParaRPr lang="en-US" sz="5400" b="1" cap="none" spc="0" dirty="0">
              <a:ln w="22225">
                <a:solidFill>
                  <a:schemeClr val="accent2"/>
                </a:solidFill>
                <a:prstDash val="solid"/>
              </a:ln>
              <a:solidFill>
                <a:schemeClr val="accent2">
                  <a:lumMod val="40000"/>
                  <a:lumOff val="60000"/>
                </a:schemeClr>
              </a:solidFill>
              <a:effectLst/>
            </a:endParaRPr>
          </a:p>
        </p:txBody>
      </p:sp>
      <p:pic>
        <p:nvPicPr>
          <p:cNvPr id="4" name="Picture 3"/>
          <p:cNvPicPr>
            <a:picLocks noChangeAspect="1"/>
          </p:cNvPicPr>
          <p:nvPr/>
        </p:nvPicPr>
        <p:blipFill>
          <a:blip r:embed="rId2"/>
          <a:stretch>
            <a:fillRect/>
          </a:stretch>
        </p:blipFill>
        <p:spPr>
          <a:xfrm>
            <a:off x="1971774" y="1778662"/>
            <a:ext cx="7558592" cy="4815319"/>
          </a:xfrm>
          <a:prstGeom prst="rect">
            <a:avLst/>
          </a:prstGeom>
        </p:spPr>
      </p:pic>
    </p:spTree>
    <p:extLst>
      <p:ext uri="{BB962C8B-B14F-4D97-AF65-F5344CB8AC3E}">
        <p14:creationId xmlns:p14="http://schemas.microsoft.com/office/powerpoint/2010/main" val="16016107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tx1"/>
                </a:solidFill>
              </a:rPr>
              <a:t>virtual</a:t>
            </a:r>
            <a:endParaRPr lang="en-US" b="1" dirty="0">
              <a:solidFill>
                <a:schemeClr val="tx1"/>
              </a:solidFill>
            </a:endParaRPr>
          </a:p>
          <a:p>
            <a:endParaRPr lang="en-GB" dirty="0"/>
          </a:p>
        </p:txBody>
      </p:sp>
    </p:spTree>
    <p:extLst>
      <p:ext uri="{BB962C8B-B14F-4D97-AF65-F5344CB8AC3E}">
        <p14:creationId xmlns:p14="http://schemas.microsoft.com/office/powerpoint/2010/main" val="19868049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tx1"/>
                </a:solidFill>
              </a:rPr>
              <a:t>virtual</a:t>
            </a:r>
            <a:endParaRPr lang="en-US" b="1" dirty="0">
              <a:solidFill>
                <a:schemeClr val="tx1"/>
              </a:solidFill>
            </a:endParaRPr>
          </a:p>
          <a:p>
            <a:endParaRPr lang="en-GB" dirty="0"/>
          </a:p>
        </p:txBody>
      </p:sp>
      <p:sp>
        <p:nvSpPr>
          <p:cNvPr id="4" name="Rectangle 3"/>
          <p:cNvSpPr/>
          <p:nvPr/>
        </p:nvSpPr>
        <p:spPr>
          <a:xfrm>
            <a:off x="449268" y="2967335"/>
            <a:ext cx="11293476" cy="1754326"/>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It is used for: methods, properties</a:t>
            </a:r>
          </a:p>
          <a:p>
            <a:pPr algn="ctr"/>
            <a:r>
              <a:rPr lang="en-US" sz="5400" b="1" dirty="0" smtClean="0">
                <a:ln w="22225">
                  <a:solidFill>
                    <a:schemeClr val="accent2"/>
                  </a:solidFill>
                  <a:prstDash val="solid"/>
                </a:ln>
                <a:solidFill>
                  <a:schemeClr val="accent2">
                    <a:lumMod val="40000"/>
                    <a:lumOff val="60000"/>
                  </a:schemeClr>
                </a:solidFill>
              </a:rPr>
              <a:t>indexer and events.</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9899737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Framework – C# access modifiers and other common types</a:t>
            </a:r>
            <a:endParaRPr lang="en-GB" dirty="0"/>
          </a:p>
        </p:txBody>
      </p:sp>
      <p:sp>
        <p:nvSpPr>
          <p:cNvPr id="3" name="Content Placeholder 2"/>
          <p:cNvSpPr>
            <a:spLocks noGrp="1"/>
          </p:cNvSpPr>
          <p:nvPr>
            <p:ph idx="1"/>
          </p:nvPr>
        </p:nvSpPr>
        <p:spPr/>
        <p:txBody>
          <a:bodyPr/>
          <a:lstStyle/>
          <a:p>
            <a:r>
              <a:rPr lang="en-US" dirty="0" smtClean="0"/>
              <a:t>Other common types</a:t>
            </a:r>
          </a:p>
          <a:p>
            <a:pPr lvl="1">
              <a:buFont typeface="Wingdings" panose="05000000000000000000" pitchFamily="2" charset="2"/>
              <a:buChar char="§"/>
            </a:pPr>
            <a:r>
              <a:rPr lang="en-US" b="1" dirty="0" err="1" smtClean="0">
                <a:solidFill>
                  <a:schemeClr val="bg1">
                    <a:lumMod val="85000"/>
                  </a:schemeClr>
                </a:solidFill>
              </a:rPr>
              <a:t>readonly</a:t>
            </a:r>
            <a:r>
              <a:rPr lang="en-US" b="1" dirty="0" smtClean="0">
                <a:solidFill>
                  <a:schemeClr val="bg1">
                    <a:lumMod val="85000"/>
                  </a:schemeClr>
                </a:solidFill>
              </a:rPr>
              <a:t> vs </a:t>
            </a:r>
            <a:r>
              <a:rPr lang="en-US" b="1" dirty="0" err="1" smtClean="0">
                <a:solidFill>
                  <a:schemeClr val="bg1">
                    <a:lumMod val="85000"/>
                  </a:schemeClr>
                </a:solidFill>
              </a:rPr>
              <a:t>const</a:t>
            </a:r>
            <a:endParaRPr lang="en-US" b="1" dirty="0" smtClean="0">
              <a:solidFill>
                <a:schemeClr val="bg1">
                  <a:lumMod val="85000"/>
                </a:schemeClr>
              </a:solidFill>
            </a:endParaRPr>
          </a:p>
          <a:p>
            <a:pPr lvl="1">
              <a:buFont typeface="Wingdings" panose="05000000000000000000" pitchFamily="2" charset="2"/>
              <a:buChar char="§"/>
            </a:pPr>
            <a:r>
              <a:rPr lang="en-US" b="1" dirty="0" smtClean="0">
                <a:solidFill>
                  <a:schemeClr val="bg1">
                    <a:lumMod val="85000"/>
                  </a:schemeClr>
                </a:solidFill>
              </a:rPr>
              <a:t>sealed</a:t>
            </a:r>
          </a:p>
          <a:p>
            <a:pPr lvl="1">
              <a:buFont typeface="Wingdings" panose="05000000000000000000" pitchFamily="2" charset="2"/>
              <a:buChar char="§"/>
            </a:pPr>
            <a:r>
              <a:rPr lang="en-US" b="1" dirty="0" smtClean="0">
                <a:solidFill>
                  <a:schemeClr val="tx1"/>
                </a:solidFill>
              </a:rPr>
              <a:t>virtual</a:t>
            </a:r>
            <a:endParaRPr lang="en-US" b="1" dirty="0">
              <a:solidFill>
                <a:schemeClr val="tx1"/>
              </a:solidFill>
            </a:endParaRPr>
          </a:p>
          <a:p>
            <a:endParaRPr lang="en-GB" dirty="0"/>
          </a:p>
        </p:txBody>
      </p:sp>
      <p:sp>
        <p:nvSpPr>
          <p:cNvPr id="4" name="Rectangle 3"/>
          <p:cNvSpPr/>
          <p:nvPr/>
        </p:nvSpPr>
        <p:spPr>
          <a:xfrm>
            <a:off x="449270" y="2967335"/>
            <a:ext cx="11293476" cy="3416320"/>
          </a:xfrm>
          <a:prstGeom prst="rect">
            <a:avLst/>
          </a:prstGeom>
          <a:noFill/>
        </p:spPr>
        <p:txBody>
          <a:bodyPr wrap="none" lIns="91440" tIns="45720" rIns="91440" bIns="45720">
            <a:spAutoFit/>
          </a:bodyPr>
          <a:lstStyle/>
          <a:p>
            <a:pPr algn="ctr"/>
            <a:r>
              <a:rPr lang="en-US" sz="5400" b="1" cap="none" spc="0" dirty="0" smtClean="0">
                <a:ln w="22225">
                  <a:solidFill>
                    <a:schemeClr val="accent2"/>
                  </a:solidFill>
                  <a:prstDash val="solid"/>
                </a:ln>
                <a:solidFill>
                  <a:schemeClr val="accent2">
                    <a:lumMod val="40000"/>
                    <a:lumOff val="60000"/>
                  </a:schemeClr>
                </a:solidFill>
                <a:effectLst/>
              </a:rPr>
              <a:t>It is used for: methods, properties</a:t>
            </a:r>
          </a:p>
          <a:p>
            <a:pPr algn="ctr"/>
            <a:r>
              <a:rPr lang="en-US" sz="5400" b="1" dirty="0" smtClean="0">
                <a:ln w="22225">
                  <a:solidFill>
                    <a:schemeClr val="accent2"/>
                  </a:solidFill>
                  <a:prstDash val="solid"/>
                </a:ln>
                <a:solidFill>
                  <a:schemeClr val="accent2">
                    <a:lumMod val="40000"/>
                    <a:lumOff val="60000"/>
                  </a:schemeClr>
                </a:solidFill>
              </a:rPr>
              <a:t>indexer and events.</a:t>
            </a:r>
          </a:p>
          <a:p>
            <a:pPr algn="ctr"/>
            <a:r>
              <a:rPr lang="en-US" sz="5400" b="1" cap="none" spc="0" dirty="0" smtClean="0">
                <a:ln w="22225">
                  <a:solidFill>
                    <a:schemeClr val="accent2"/>
                  </a:solidFill>
                  <a:prstDash val="solid"/>
                </a:ln>
                <a:solidFill>
                  <a:schemeClr val="accent2">
                    <a:lumMod val="40000"/>
                    <a:lumOff val="60000"/>
                  </a:schemeClr>
                </a:solidFill>
                <a:effectLst/>
              </a:rPr>
              <a:t>This allows us to override the </a:t>
            </a:r>
          </a:p>
          <a:p>
            <a:pPr algn="ctr"/>
            <a:r>
              <a:rPr lang="en-US" sz="5400" b="1" dirty="0">
                <a:ln w="22225">
                  <a:solidFill>
                    <a:schemeClr val="accent2"/>
                  </a:solidFill>
                  <a:prstDash val="solid"/>
                </a:ln>
                <a:solidFill>
                  <a:schemeClr val="accent2">
                    <a:lumMod val="40000"/>
                    <a:lumOff val="60000"/>
                  </a:schemeClr>
                </a:solidFill>
              </a:rPr>
              <a:t>b</a:t>
            </a:r>
            <a:r>
              <a:rPr lang="en-US" sz="5400" b="1" cap="none" spc="0" dirty="0" smtClean="0">
                <a:ln w="22225">
                  <a:solidFill>
                    <a:schemeClr val="accent2"/>
                  </a:solidFill>
                  <a:prstDash val="solid"/>
                </a:ln>
                <a:solidFill>
                  <a:schemeClr val="accent2">
                    <a:lumMod val="40000"/>
                    <a:lumOff val="60000"/>
                  </a:schemeClr>
                </a:solidFill>
                <a:effectLst/>
              </a:rPr>
              <a:t>ehavior </a:t>
            </a:r>
            <a:r>
              <a:rPr lang="en-US" sz="5400" b="1" dirty="0" smtClean="0">
                <a:ln w="22225">
                  <a:solidFill>
                    <a:schemeClr val="accent2"/>
                  </a:solidFill>
                  <a:prstDash val="solid"/>
                </a:ln>
                <a:solidFill>
                  <a:schemeClr val="accent2">
                    <a:lumMod val="40000"/>
                    <a:lumOff val="60000"/>
                  </a:schemeClr>
                </a:solidFill>
              </a:rPr>
              <a:t>in a derived class.</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423707334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16415150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r>
              <a:rPr lang="en-US" dirty="0"/>
              <a:t>“Talk is cheap. Show me the code.” </a:t>
            </a:r>
            <a:br>
              <a:rPr lang="en-US" dirty="0"/>
            </a:br>
            <a:endParaRPr lang="en-GB" dirty="0"/>
          </a:p>
        </p:txBody>
      </p:sp>
    </p:spTree>
    <p:extLst>
      <p:ext uri="{BB962C8B-B14F-4D97-AF65-F5344CB8AC3E}">
        <p14:creationId xmlns:p14="http://schemas.microsoft.com/office/powerpoint/2010/main" val="41585280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r>
              <a:rPr lang="en-US" dirty="0"/>
              <a:t>“Talk is cheap. Show me the code.” ― </a:t>
            </a:r>
            <a:r>
              <a:rPr lang="en-US" dirty="0">
                <a:hlinkClick r:id="rId2"/>
              </a:rPr>
              <a:t>Linus Torvalds</a:t>
            </a:r>
            <a:r>
              <a:rPr lang="en-US" dirty="0"/>
              <a:t> </a:t>
            </a:r>
            <a:endParaRPr lang="en-US" dirty="0" smtClean="0"/>
          </a:p>
          <a:p>
            <a:r>
              <a:rPr lang="en-US" i="1" dirty="0"/>
              <a:t>Write comments only when strictly necessary and keep them in sync with the </a:t>
            </a:r>
            <a:r>
              <a:rPr lang="en-US" i="1" dirty="0" smtClean="0"/>
              <a:t>code.</a:t>
            </a:r>
            <a:r>
              <a:rPr lang="en-US" dirty="0"/>
              <a:t/>
            </a:r>
            <a:br>
              <a:rPr lang="en-US" dirty="0"/>
            </a:br>
            <a:endParaRPr lang="en-GB" dirty="0"/>
          </a:p>
        </p:txBody>
      </p:sp>
    </p:spTree>
    <p:extLst>
      <p:ext uri="{BB962C8B-B14F-4D97-AF65-F5344CB8AC3E}">
        <p14:creationId xmlns:p14="http://schemas.microsoft.com/office/powerpoint/2010/main" val="16600825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r>
              <a:rPr lang="en-US" dirty="0"/>
              <a:t>“Talk is cheap. Show me the code.” ― </a:t>
            </a:r>
            <a:r>
              <a:rPr lang="en-US" dirty="0">
                <a:hlinkClick r:id="rId2"/>
              </a:rPr>
              <a:t>Linus Torvalds</a:t>
            </a:r>
            <a:r>
              <a:rPr lang="en-US" dirty="0"/>
              <a:t> </a:t>
            </a:r>
            <a:endParaRPr lang="en-US" dirty="0" smtClean="0"/>
          </a:p>
          <a:p>
            <a:r>
              <a:rPr lang="en-US" dirty="0"/>
              <a:t>Write comments only when strictly necessary and keep them in sync with the </a:t>
            </a:r>
            <a:r>
              <a:rPr lang="en-US" dirty="0" smtClean="0"/>
              <a:t>code.</a:t>
            </a:r>
          </a:p>
          <a:p>
            <a:r>
              <a:rPr lang="en-US" dirty="0"/>
              <a:t>Establish a set of shared coding standards</a:t>
            </a:r>
            <a:br>
              <a:rPr lang="en-US" dirty="0"/>
            </a:br>
            <a:endParaRPr lang="en-GB" dirty="0"/>
          </a:p>
        </p:txBody>
      </p:sp>
    </p:spTree>
    <p:extLst>
      <p:ext uri="{BB962C8B-B14F-4D97-AF65-F5344CB8AC3E}">
        <p14:creationId xmlns:p14="http://schemas.microsoft.com/office/powerpoint/2010/main" val="5356008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r>
              <a:rPr lang="en-US" dirty="0"/>
              <a:t>“Talk is cheap. Show me the code.” ― </a:t>
            </a:r>
            <a:r>
              <a:rPr lang="en-US" dirty="0">
                <a:hlinkClick r:id="rId2"/>
              </a:rPr>
              <a:t>Linus Torvalds</a:t>
            </a:r>
            <a:r>
              <a:rPr lang="en-US" dirty="0"/>
              <a:t> </a:t>
            </a:r>
            <a:endParaRPr lang="en-US" dirty="0" smtClean="0"/>
          </a:p>
          <a:p>
            <a:r>
              <a:rPr lang="en-US" dirty="0"/>
              <a:t>Write comments only when strictly necessary and keep them in sync with the </a:t>
            </a:r>
            <a:r>
              <a:rPr lang="en-US" dirty="0" smtClean="0"/>
              <a:t>code.</a:t>
            </a:r>
          </a:p>
          <a:p>
            <a:r>
              <a:rPr lang="en-US" dirty="0"/>
              <a:t>Establish a set of shared coding </a:t>
            </a:r>
            <a:r>
              <a:rPr lang="en-US" dirty="0" smtClean="0"/>
              <a:t>standards.</a:t>
            </a:r>
          </a:p>
          <a:p>
            <a:r>
              <a:rPr lang="en-US" dirty="0" smtClean="0"/>
              <a:t>“Any </a:t>
            </a:r>
            <a:r>
              <a:rPr lang="en-US" dirty="0"/>
              <a:t>fool can write code that a computer can understand. Good programmers write code that humans can understand</a:t>
            </a:r>
            <a:r>
              <a:rPr lang="en-US" dirty="0" smtClean="0"/>
              <a:t>.”</a:t>
            </a:r>
            <a:r>
              <a:rPr lang="en-US" dirty="0"/>
              <a:t/>
            </a:r>
            <a:br>
              <a:rPr lang="en-US" dirty="0"/>
            </a:br>
            <a:endParaRPr lang="en-GB" dirty="0"/>
          </a:p>
        </p:txBody>
      </p:sp>
    </p:spTree>
    <p:extLst>
      <p:ext uri="{BB962C8B-B14F-4D97-AF65-F5344CB8AC3E}">
        <p14:creationId xmlns:p14="http://schemas.microsoft.com/office/powerpoint/2010/main" val="33018572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more thing…</a:t>
            </a:r>
            <a:endParaRPr lang="en-GB" dirty="0"/>
          </a:p>
        </p:txBody>
      </p:sp>
      <p:sp>
        <p:nvSpPr>
          <p:cNvPr id="3" name="Content Placeholder 2"/>
          <p:cNvSpPr>
            <a:spLocks noGrp="1"/>
          </p:cNvSpPr>
          <p:nvPr>
            <p:ph idx="1"/>
          </p:nvPr>
        </p:nvSpPr>
        <p:spPr/>
        <p:txBody>
          <a:bodyPr/>
          <a:lstStyle/>
          <a:p>
            <a:r>
              <a:rPr lang="en-US" dirty="0"/>
              <a:t>“Talk is cheap. Show me the code.” ― </a:t>
            </a:r>
            <a:r>
              <a:rPr lang="en-US" dirty="0">
                <a:hlinkClick r:id="rId2"/>
              </a:rPr>
              <a:t>Linus Torvalds</a:t>
            </a:r>
            <a:r>
              <a:rPr lang="en-US" dirty="0"/>
              <a:t> </a:t>
            </a:r>
            <a:endParaRPr lang="en-US" dirty="0" smtClean="0"/>
          </a:p>
          <a:p>
            <a:r>
              <a:rPr lang="en-US" dirty="0"/>
              <a:t>Write comments only when strictly necessary and keep them in sync with the </a:t>
            </a:r>
            <a:r>
              <a:rPr lang="en-US" dirty="0" smtClean="0"/>
              <a:t>code.</a:t>
            </a:r>
          </a:p>
          <a:p>
            <a:r>
              <a:rPr lang="en-US" dirty="0"/>
              <a:t>Establish a set of shared coding </a:t>
            </a:r>
            <a:r>
              <a:rPr lang="en-US" dirty="0" smtClean="0"/>
              <a:t>standards.</a:t>
            </a:r>
          </a:p>
          <a:p>
            <a:r>
              <a:rPr lang="en-US" dirty="0" smtClean="0"/>
              <a:t>“Any </a:t>
            </a:r>
            <a:r>
              <a:rPr lang="en-US" dirty="0"/>
              <a:t>fool can write code that a computer can understand. Good programmers write code that humans can understand</a:t>
            </a:r>
            <a:r>
              <a:rPr lang="en-US" dirty="0" smtClean="0"/>
              <a:t>.” – </a:t>
            </a:r>
            <a:r>
              <a:rPr lang="en-US" dirty="0" smtClean="0">
                <a:hlinkClick r:id="rId3"/>
              </a:rPr>
              <a:t>Martin Fowler</a:t>
            </a:r>
            <a:r>
              <a:rPr lang="en-US" dirty="0"/>
              <a:t/>
            </a:r>
            <a:br>
              <a:rPr lang="en-US" dirty="0"/>
            </a:br>
            <a:endParaRPr lang="en-GB" dirty="0"/>
          </a:p>
        </p:txBody>
      </p:sp>
    </p:spTree>
    <p:extLst>
      <p:ext uri="{BB962C8B-B14F-4D97-AF65-F5344CB8AC3E}">
        <p14:creationId xmlns:p14="http://schemas.microsoft.com/office/powerpoint/2010/main" val="31348334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GB" dirty="0"/>
          </a:p>
        </p:txBody>
      </p:sp>
      <p:sp>
        <p:nvSpPr>
          <p:cNvPr id="3" name="Content Placeholder 2"/>
          <p:cNvSpPr>
            <a:spLocks noGrp="1"/>
          </p:cNvSpPr>
          <p:nvPr>
            <p:ph idx="1"/>
          </p:nvPr>
        </p:nvSpPr>
        <p:spPr/>
        <p:txBody>
          <a:bodyPr/>
          <a:lstStyle/>
          <a:p>
            <a:r>
              <a:rPr lang="en-US" dirty="0" smtClean="0"/>
              <a:t>Do you have any other questions?</a:t>
            </a:r>
            <a:endParaRPr lang="en-GB" dirty="0"/>
          </a:p>
        </p:txBody>
      </p:sp>
    </p:spTree>
    <p:extLst>
      <p:ext uri="{BB962C8B-B14F-4D97-AF65-F5344CB8AC3E}">
        <p14:creationId xmlns:p14="http://schemas.microsoft.com/office/powerpoint/2010/main" val="1486286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lgn="ctr">
              <a:buNone/>
            </a:pPr>
            <a:r>
              <a:rPr lang="en-US" sz="4800" dirty="0" smtClean="0"/>
              <a:t>Thanks! </a:t>
            </a:r>
          </a:p>
          <a:p>
            <a:pPr marL="0" indent="0" algn="ctr">
              <a:buNone/>
            </a:pPr>
            <a:r>
              <a:rPr lang="en-US" sz="4800" dirty="0" smtClean="0"/>
              <a:t>See you next time! </a:t>
            </a:r>
            <a:r>
              <a:rPr lang="en-US" sz="4800" dirty="0" smtClean="0">
                <a:sym typeface="Wingdings" panose="05000000000000000000" pitchFamily="2" charset="2"/>
              </a:rPr>
              <a:t></a:t>
            </a:r>
            <a:endParaRPr lang="en-GB" sz="4800" dirty="0"/>
          </a:p>
        </p:txBody>
      </p:sp>
    </p:spTree>
    <p:extLst>
      <p:ext uri="{BB962C8B-B14F-4D97-AF65-F5344CB8AC3E}">
        <p14:creationId xmlns:p14="http://schemas.microsoft.com/office/powerpoint/2010/main" val="8350394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TotalTime>
  <Words>2841</Words>
  <Application>Microsoft Office PowerPoint</Application>
  <PresentationFormat>Custom</PresentationFormat>
  <Paragraphs>468</Paragraphs>
  <Slides>66</Slides>
  <Notes>19</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Facet</vt:lpstr>
      <vt:lpstr>Introduction to .NET</vt:lpstr>
      <vt:lpstr>Organization</vt:lpstr>
      <vt:lpstr>Resources</vt:lpstr>
      <vt:lpstr>Questions?</vt:lpstr>
      <vt:lpstr>Motivation</vt:lpstr>
      <vt:lpstr>Goal</vt:lpstr>
      <vt:lpstr>Agenda</vt:lpstr>
      <vt:lpstr>What is .NET Core? What is .NET Framework? </vt:lpstr>
      <vt:lpstr>What is .NET Core? What is .NET Framework? </vt:lpstr>
      <vt:lpstr>Overview on ASP.NET Core </vt:lpstr>
      <vt:lpstr>Overview on ASP.NET Core </vt:lpstr>
      <vt:lpstr>What is new about this framework? </vt:lpstr>
      <vt:lpstr>What is new about this framework? </vt:lpstr>
      <vt:lpstr>What is new about this framework? </vt:lpstr>
      <vt:lpstr>What is new about this framework? </vt:lpstr>
      <vt:lpstr>What is new about this framework? </vt:lpstr>
      <vt:lpstr>What is new about this framework? </vt:lpstr>
      <vt:lpstr>What is new about this framework? </vt:lpstr>
      <vt:lpstr>Sample: Developing sample web application </vt:lpstr>
      <vt:lpstr>OOP in .NET Core</vt:lpstr>
      <vt:lpstr>OOP in .NET Core – inheritance</vt:lpstr>
      <vt:lpstr>OOP in .NET Core - inheritance</vt:lpstr>
      <vt:lpstr>OOP in .NET Core - polymorphism</vt:lpstr>
      <vt:lpstr>OOP in .NET Core - polymorphism</vt:lpstr>
      <vt:lpstr>OOP in .NET Core - polymorphism</vt:lpstr>
      <vt:lpstr>OOP in .NET Core - encapsulation</vt:lpstr>
      <vt:lpstr>OOP in .NET Core</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NET Framework – C# access modifiers and other common types</vt:lpstr>
      <vt:lpstr>One more thing…</vt:lpstr>
      <vt:lpstr>One more thing…</vt:lpstr>
      <vt:lpstr>One more thing…</vt:lpstr>
      <vt:lpstr>One more thing…</vt:lpstr>
      <vt:lpstr>One more thing…</vt:lpstr>
      <vt:lpstr>One more thing…</vt:lpstr>
      <vt:lpstr>Questions</vt:lpstr>
      <vt:lpstr>PowerPoint Presentation</vt:lpstr>
    </vt:vector>
  </TitlesOfParts>
  <Company>Centric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.NET Core 1.0</dc:title>
  <dc:creator>Olariu, Florin</dc:creator>
  <cp:lastModifiedBy>Dan</cp:lastModifiedBy>
  <cp:revision>121</cp:revision>
  <dcterms:created xsi:type="dcterms:W3CDTF">2016-09-16T14:15:46Z</dcterms:created>
  <dcterms:modified xsi:type="dcterms:W3CDTF">2017-10-08T12:51:21Z</dcterms:modified>
</cp:coreProperties>
</file>